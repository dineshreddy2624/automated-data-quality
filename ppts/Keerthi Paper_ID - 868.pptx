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88" r:id="rId2"/>
    <p:sldId id="270" r:id="rId3"/>
    <p:sldId id="257" r:id="rId4"/>
    <p:sldId id="258" r:id="rId5"/>
    <p:sldId id="260" r:id="rId6"/>
    <p:sldId id="267" r:id="rId7"/>
    <p:sldId id="271" r:id="rId8"/>
    <p:sldId id="272" r:id="rId9"/>
    <p:sldId id="262" r:id="rId10"/>
    <p:sldId id="274" r:id="rId11"/>
    <p:sldId id="275" r:id="rId12"/>
    <p:sldId id="285" r:id="rId13"/>
    <p:sldId id="286" r:id="rId14"/>
    <p:sldId id="284" r:id="rId15"/>
    <p:sldId id="268" r:id="rId16"/>
    <p:sldId id="26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825" autoAdjust="0"/>
    <p:restoredTop sz="94660"/>
  </p:normalViewPr>
  <p:slideViewPr>
    <p:cSldViewPr snapToGrid="0">
      <p:cViewPr varScale="1">
        <p:scale>
          <a:sx n="80" d="100"/>
          <a:sy n="80" d="100"/>
        </p:scale>
        <p:origin x="58" y="5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1C665E-EFB4-4111-991B-0941C26D2B38}" type="datetimeFigureOut">
              <a:rPr lang="en-US" smtClean="0"/>
              <a:t>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338C45-65F8-4777-9D83-764A4B489072}" type="slidenum">
              <a:rPr lang="en-US" smtClean="0"/>
              <a:t>‹#›</a:t>
            </a:fld>
            <a:endParaRPr lang="en-US"/>
          </a:p>
        </p:txBody>
      </p:sp>
    </p:spTree>
    <p:extLst>
      <p:ext uri="{BB962C8B-B14F-4D97-AF65-F5344CB8AC3E}">
        <p14:creationId xmlns:p14="http://schemas.microsoft.com/office/powerpoint/2010/main" val="3099069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338C45-65F8-4777-9D83-764A4B489072}" type="slidenum">
              <a:rPr lang="en-US" smtClean="0"/>
              <a:t>4</a:t>
            </a:fld>
            <a:endParaRPr lang="en-US"/>
          </a:p>
        </p:txBody>
      </p:sp>
    </p:spTree>
    <p:extLst>
      <p:ext uri="{BB962C8B-B14F-4D97-AF65-F5344CB8AC3E}">
        <p14:creationId xmlns:p14="http://schemas.microsoft.com/office/powerpoint/2010/main" val="2364537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66BBB-557F-F1B1-0886-35DEBC50AD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B595B1-3380-AE9A-B81D-1580857169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D6A835-C5B1-49C0-FF08-4018F0BCACE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3FFBED-EA83-3569-D7D1-D1A7418BDE94}"/>
              </a:ext>
            </a:extLst>
          </p:cNvPr>
          <p:cNvSpPr>
            <a:spLocks noGrp="1"/>
          </p:cNvSpPr>
          <p:nvPr>
            <p:ph type="sldNum" sz="quarter" idx="10"/>
          </p:nvPr>
        </p:nvSpPr>
        <p:spPr/>
        <p:txBody>
          <a:bodyPr/>
          <a:lstStyle/>
          <a:p>
            <a:fld id="{05338C45-65F8-4777-9D83-764A4B489072}" type="slidenum">
              <a:rPr lang="en-US" smtClean="0"/>
              <a:t>10</a:t>
            </a:fld>
            <a:endParaRPr lang="en-US"/>
          </a:p>
        </p:txBody>
      </p:sp>
    </p:spTree>
    <p:extLst>
      <p:ext uri="{BB962C8B-B14F-4D97-AF65-F5344CB8AC3E}">
        <p14:creationId xmlns:p14="http://schemas.microsoft.com/office/powerpoint/2010/main" val="1977457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66BBB-557F-F1B1-0886-35DEBC50AD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B595B1-3380-AE9A-B81D-1580857169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D6A835-C5B1-49C0-FF08-4018F0BCACE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3FFBED-EA83-3569-D7D1-D1A7418BDE94}"/>
              </a:ext>
            </a:extLst>
          </p:cNvPr>
          <p:cNvSpPr>
            <a:spLocks noGrp="1"/>
          </p:cNvSpPr>
          <p:nvPr>
            <p:ph type="sldNum" sz="quarter" idx="10"/>
          </p:nvPr>
        </p:nvSpPr>
        <p:spPr/>
        <p:txBody>
          <a:bodyPr/>
          <a:lstStyle/>
          <a:p>
            <a:fld id="{05338C45-65F8-4777-9D83-764A4B489072}" type="slidenum">
              <a:rPr lang="en-US" smtClean="0"/>
              <a:t>11</a:t>
            </a:fld>
            <a:endParaRPr lang="en-US"/>
          </a:p>
        </p:txBody>
      </p:sp>
    </p:spTree>
    <p:extLst>
      <p:ext uri="{BB962C8B-B14F-4D97-AF65-F5344CB8AC3E}">
        <p14:creationId xmlns:p14="http://schemas.microsoft.com/office/powerpoint/2010/main" val="1977457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42F89-3221-F3E2-F41D-FCF35E7C9B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A53D6-8B5F-2478-F104-3CD74B65FF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B61FE4-E030-6A6D-8BB8-2E04E03BB6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390F18C-C40A-6D01-2546-5439BE7566CF}"/>
              </a:ext>
            </a:extLst>
          </p:cNvPr>
          <p:cNvSpPr>
            <a:spLocks noGrp="1"/>
          </p:cNvSpPr>
          <p:nvPr>
            <p:ph type="sldNum" sz="quarter" idx="10"/>
          </p:nvPr>
        </p:nvSpPr>
        <p:spPr/>
        <p:txBody>
          <a:bodyPr/>
          <a:lstStyle/>
          <a:p>
            <a:fld id="{05338C45-65F8-4777-9D83-764A4B489072}" type="slidenum">
              <a:rPr lang="en-US" smtClean="0"/>
              <a:t>12</a:t>
            </a:fld>
            <a:endParaRPr lang="en-US"/>
          </a:p>
        </p:txBody>
      </p:sp>
    </p:spTree>
    <p:extLst>
      <p:ext uri="{BB962C8B-B14F-4D97-AF65-F5344CB8AC3E}">
        <p14:creationId xmlns:p14="http://schemas.microsoft.com/office/powerpoint/2010/main" val="3195237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FA7AA-5372-F3B2-1A27-3D3359AC28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22076-EB6A-AA73-2140-61B654DDFD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BD0836-A25A-3AC2-47D0-299D64358F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3E4F11-39AA-E7BB-1F85-3EC8D8547660}"/>
              </a:ext>
            </a:extLst>
          </p:cNvPr>
          <p:cNvSpPr>
            <a:spLocks noGrp="1"/>
          </p:cNvSpPr>
          <p:nvPr>
            <p:ph type="sldNum" sz="quarter" idx="10"/>
          </p:nvPr>
        </p:nvSpPr>
        <p:spPr/>
        <p:txBody>
          <a:bodyPr/>
          <a:lstStyle/>
          <a:p>
            <a:fld id="{05338C45-65F8-4777-9D83-764A4B489072}" type="slidenum">
              <a:rPr lang="en-US" smtClean="0"/>
              <a:t>13</a:t>
            </a:fld>
            <a:endParaRPr lang="en-US"/>
          </a:p>
        </p:txBody>
      </p:sp>
    </p:spTree>
    <p:extLst>
      <p:ext uri="{BB962C8B-B14F-4D97-AF65-F5344CB8AC3E}">
        <p14:creationId xmlns:p14="http://schemas.microsoft.com/office/powerpoint/2010/main" val="1077967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04CBF-00E2-C8D3-C4DD-2110E196F4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C17B6-D855-969C-114D-31B3691EAE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D2B1B3-5B61-60A5-FE8D-16D9351214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7517A22-3C49-BBCF-B653-AE862CEF2964}"/>
              </a:ext>
            </a:extLst>
          </p:cNvPr>
          <p:cNvSpPr>
            <a:spLocks noGrp="1"/>
          </p:cNvSpPr>
          <p:nvPr>
            <p:ph type="sldNum" sz="quarter" idx="10"/>
          </p:nvPr>
        </p:nvSpPr>
        <p:spPr/>
        <p:txBody>
          <a:bodyPr/>
          <a:lstStyle/>
          <a:p>
            <a:fld id="{05338C45-65F8-4777-9D83-764A4B489072}" type="slidenum">
              <a:rPr lang="en-US" smtClean="0"/>
              <a:t>14</a:t>
            </a:fld>
            <a:endParaRPr lang="en-US"/>
          </a:p>
        </p:txBody>
      </p:sp>
    </p:spTree>
    <p:extLst>
      <p:ext uri="{BB962C8B-B14F-4D97-AF65-F5344CB8AC3E}">
        <p14:creationId xmlns:p14="http://schemas.microsoft.com/office/powerpoint/2010/main" val="4071573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168EC2B-C266-4FC0-8F76-E3C4B33606D6}" type="datetime1">
              <a:rPr lang="en-US" smtClean="0"/>
              <a:t>11/3/2025</a:t>
            </a:fld>
            <a:endParaRPr lang="en-US"/>
          </a:p>
        </p:txBody>
      </p:sp>
      <p:sp>
        <p:nvSpPr>
          <p:cNvPr id="5" name="Footer Placeholder 4"/>
          <p:cNvSpPr>
            <a:spLocks noGrp="1"/>
          </p:cNvSpPr>
          <p:nvPr>
            <p:ph type="ftr" sz="quarter" idx="11"/>
          </p:nvPr>
        </p:nvSpPr>
        <p:spPr/>
        <p:txBody>
          <a:bodyPr/>
          <a:lstStyle/>
          <a:p>
            <a:r>
              <a:rPr lang="en-US"/>
              <a:t>Dept. of CSE, AITS,Rajampet</a:t>
            </a:r>
          </a:p>
        </p:txBody>
      </p:sp>
      <p:sp>
        <p:nvSpPr>
          <p:cNvPr id="6" name="Slide Number Placeholder 5"/>
          <p:cNvSpPr>
            <a:spLocks noGrp="1"/>
          </p:cNvSpPr>
          <p:nvPr>
            <p:ph type="sldNum" sz="quarter" idx="12"/>
          </p:nvPr>
        </p:nvSpPr>
        <p:spPr/>
        <p:txBody>
          <a:bodyPr/>
          <a:lstStyle/>
          <a:p>
            <a:fld id="{24045EF9-4BF9-47DC-8719-C428B1527DDF}" type="slidenum">
              <a:rPr lang="en-US" smtClean="0"/>
              <a:t>‹#›</a:t>
            </a:fld>
            <a:endParaRPr lang="en-US"/>
          </a:p>
        </p:txBody>
      </p:sp>
    </p:spTree>
    <p:extLst>
      <p:ext uri="{BB962C8B-B14F-4D97-AF65-F5344CB8AC3E}">
        <p14:creationId xmlns:p14="http://schemas.microsoft.com/office/powerpoint/2010/main" val="227346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7F260A-DD09-44F7-B980-373C528FDC8A}" type="datetime1">
              <a:rPr lang="en-US" smtClean="0"/>
              <a:t>11/3/2025</a:t>
            </a:fld>
            <a:endParaRPr lang="en-US"/>
          </a:p>
        </p:txBody>
      </p:sp>
      <p:sp>
        <p:nvSpPr>
          <p:cNvPr id="5" name="Footer Placeholder 4"/>
          <p:cNvSpPr>
            <a:spLocks noGrp="1"/>
          </p:cNvSpPr>
          <p:nvPr>
            <p:ph type="ftr" sz="quarter" idx="11"/>
          </p:nvPr>
        </p:nvSpPr>
        <p:spPr/>
        <p:txBody>
          <a:bodyPr/>
          <a:lstStyle/>
          <a:p>
            <a:r>
              <a:rPr lang="en-US"/>
              <a:t>Dept. of CSE, AITS,Rajampet</a:t>
            </a:r>
          </a:p>
        </p:txBody>
      </p:sp>
      <p:sp>
        <p:nvSpPr>
          <p:cNvPr id="6" name="Slide Number Placeholder 5"/>
          <p:cNvSpPr>
            <a:spLocks noGrp="1"/>
          </p:cNvSpPr>
          <p:nvPr>
            <p:ph type="sldNum" sz="quarter" idx="12"/>
          </p:nvPr>
        </p:nvSpPr>
        <p:spPr/>
        <p:txBody>
          <a:bodyPr/>
          <a:lstStyle/>
          <a:p>
            <a:fld id="{24045EF9-4BF9-47DC-8719-C428B1527DDF}" type="slidenum">
              <a:rPr lang="en-US" smtClean="0"/>
              <a:t>‹#›</a:t>
            </a:fld>
            <a:endParaRPr lang="en-US"/>
          </a:p>
        </p:txBody>
      </p:sp>
    </p:spTree>
    <p:extLst>
      <p:ext uri="{BB962C8B-B14F-4D97-AF65-F5344CB8AC3E}">
        <p14:creationId xmlns:p14="http://schemas.microsoft.com/office/powerpoint/2010/main" val="1123147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FD41CE-7F3B-4257-BAF4-F24063ED1987}" type="datetime1">
              <a:rPr lang="en-US" smtClean="0"/>
              <a:t>11/3/2025</a:t>
            </a:fld>
            <a:endParaRPr lang="en-US"/>
          </a:p>
        </p:txBody>
      </p:sp>
      <p:sp>
        <p:nvSpPr>
          <p:cNvPr id="5" name="Footer Placeholder 4"/>
          <p:cNvSpPr>
            <a:spLocks noGrp="1"/>
          </p:cNvSpPr>
          <p:nvPr>
            <p:ph type="ftr" sz="quarter" idx="11"/>
          </p:nvPr>
        </p:nvSpPr>
        <p:spPr/>
        <p:txBody>
          <a:bodyPr/>
          <a:lstStyle/>
          <a:p>
            <a:r>
              <a:rPr lang="en-US"/>
              <a:t>Dept. of CSE, AITS,Rajampet</a:t>
            </a:r>
          </a:p>
        </p:txBody>
      </p:sp>
      <p:sp>
        <p:nvSpPr>
          <p:cNvPr id="6" name="Slide Number Placeholder 5"/>
          <p:cNvSpPr>
            <a:spLocks noGrp="1"/>
          </p:cNvSpPr>
          <p:nvPr>
            <p:ph type="sldNum" sz="quarter" idx="12"/>
          </p:nvPr>
        </p:nvSpPr>
        <p:spPr/>
        <p:txBody>
          <a:bodyPr/>
          <a:lstStyle/>
          <a:p>
            <a:fld id="{24045EF9-4BF9-47DC-8719-C428B1527DDF}" type="slidenum">
              <a:rPr lang="en-US" smtClean="0"/>
              <a:t>‹#›</a:t>
            </a:fld>
            <a:endParaRPr lang="en-US"/>
          </a:p>
        </p:txBody>
      </p:sp>
    </p:spTree>
    <p:extLst>
      <p:ext uri="{BB962C8B-B14F-4D97-AF65-F5344CB8AC3E}">
        <p14:creationId xmlns:p14="http://schemas.microsoft.com/office/powerpoint/2010/main" val="3257294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ADB0C7-FA79-4E29-B2E6-228CF8AEE120}" type="datetime1">
              <a:rPr lang="en-US" smtClean="0"/>
              <a:t>11/3/2025</a:t>
            </a:fld>
            <a:endParaRPr lang="en-US"/>
          </a:p>
        </p:txBody>
      </p:sp>
      <p:sp>
        <p:nvSpPr>
          <p:cNvPr id="6" name="Footer Placeholder 5"/>
          <p:cNvSpPr>
            <a:spLocks noGrp="1"/>
          </p:cNvSpPr>
          <p:nvPr>
            <p:ph type="ftr" sz="quarter" idx="11"/>
          </p:nvPr>
        </p:nvSpPr>
        <p:spPr/>
        <p:txBody>
          <a:bodyPr/>
          <a:lstStyle/>
          <a:p>
            <a:r>
              <a:rPr lang="en-US"/>
              <a:t>Dept. of CSE, AITS,Rajampet</a:t>
            </a:r>
          </a:p>
        </p:txBody>
      </p:sp>
      <p:sp>
        <p:nvSpPr>
          <p:cNvPr id="7" name="Slide Number Placeholder 6"/>
          <p:cNvSpPr>
            <a:spLocks noGrp="1"/>
          </p:cNvSpPr>
          <p:nvPr>
            <p:ph type="sldNum" sz="quarter" idx="12"/>
          </p:nvPr>
        </p:nvSpPr>
        <p:spPr/>
        <p:txBody>
          <a:bodyPr/>
          <a:lstStyle/>
          <a:p>
            <a:fld id="{24045EF9-4BF9-47DC-8719-C428B1527DDF}" type="slidenum">
              <a:rPr lang="en-US" smtClean="0"/>
              <a:t>‹#›</a:t>
            </a:fld>
            <a:endParaRPr lang="en-US"/>
          </a:p>
        </p:txBody>
      </p:sp>
    </p:spTree>
    <p:extLst>
      <p:ext uri="{BB962C8B-B14F-4D97-AF65-F5344CB8AC3E}">
        <p14:creationId xmlns:p14="http://schemas.microsoft.com/office/powerpoint/2010/main" val="1524452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DA3341-C3DF-4094-8264-056091B38B77}" type="datetime1">
              <a:rPr lang="en-US" smtClean="0"/>
              <a:t>11/3/2025</a:t>
            </a:fld>
            <a:endParaRPr lang="en-US"/>
          </a:p>
        </p:txBody>
      </p:sp>
      <p:sp>
        <p:nvSpPr>
          <p:cNvPr id="8" name="Footer Placeholder 7"/>
          <p:cNvSpPr>
            <a:spLocks noGrp="1"/>
          </p:cNvSpPr>
          <p:nvPr>
            <p:ph type="ftr" sz="quarter" idx="11"/>
          </p:nvPr>
        </p:nvSpPr>
        <p:spPr/>
        <p:txBody>
          <a:bodyPr/>
          <a:lstStyle/>
          <a:p>
            <a:r>
              <a:rPr lang="en-US"/>
              <a:t>Dept. of CSE, AITS,Rajampet</a:t>
            </a:r>
          </a:p>
        </p:txBody>
      </p:sp>
      <p:sp>
        <p:nvSpPr>
          <p:cNvPr id="9" name="Slide Number Placeholder 8"/>
          <p:cNvSpPr>
            <a:spLocks noGrp="1"/>
          </p:cNvSpPr>
          <p:nvPr>
            <p:ph type="sldNum" sz="quarter" idx="12"/>
          </p:nvPr>
        </p:nvSpPr>
        <p:spPr/>
        <p:txBody>
          <a:bodyPr/>
          <a:lstStyle/>
          <a:p>
            <a:fld id="{24045EF9-4BF9-47DC-8719-C428B1527DDF}" type="slidenum">
              <a:rPr lang="en-US" smtClean="0"/>
              <a:t>‹#›</a:t>
            </a:fld>
            <a:endParaRPr lang="en-US"/>
          </a:p>
        </p:txBody>
      </p:sp>
    </p:spTree>
    <p:extLst>
      <p:ext uri="{BB962C8B-B14F-4D97-AF65-F5344CB8AC3E}">
        <p14:creationId xmlns:p14="http://schemas.microsoft.com/office/powerpoint/2010/main" val="2454736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B411E4D-438D-4A6F-8611-4DEB21836EA8}" type="datetime1">
              <a:rPr lang="en-US" smtClean="0"/>
              <a:t>11/3/2025</a:t>
            </a:fld>
            <a:endParaRPr lang="en-US"/>
          </a:p>
        </p:txBody>
      </p:sp>
      <p:sp>
        <p:nvSpPr>
          <p:cNvPr id="4" name="Footer Placeholder 3"/>
          <p:cNvSpPr>
            <a:spLocks noGrp="1"/>
          </p:cNvSpPr>
          <p:nvPr>
            <p:ph type="ftr" sz="quarter" idx="11"/>
          </p:nvPr>
        </p:nvSpPr>
        <p:spPr/>
        <p:txBody>
          <a:bodyPr/>
          <a:lstStyle/>
          <a:p>
            <a:r>
              <a:rPr lang="en-US"/>
              <a:t>Dept. of CSE, AITS,Rajampet</a:t>
            </a:r>
          </a:p>
        </p:txBody>
      </p:sp>
      <p:sp>
        <p:nvSpPr>
          <p:cNvPr id="5" name="Slide Number Placeholder 4"/>
          <p:cNvSpPr>
            <a:spLocks noGrp="1"/>
          </p:cNvSpPr>
          <p:nvPr>
            <p:ph type="sldNum" sz="quarter" idx="12"/>
          </p:nvPr>
        </p:nvSpPr>
        <p:spPr/>
        <p:txBody>
          <a:bodyPr/>
          <a:lstStyle/>
          <a:p>
            <a:fld id="{24045EF9-4BF9-47DC-8719-C428B1527DDF}" type="slidenum">
              <a:rPr lang="en-US" smtClean="0"/>
              <a:t>‹#›</a:t>
            </a:fld>
            <a:endParaRPr lang="en-US"/>
          </a:p>
        </p:txBody>
      </p:sp>
    </p:spTree>
    <p:extLst>
      <p:ext uri="{BB962C8B-B14F-4D97-AF65-F5344CB8AC3E}">
        <p14:creationId xmlns:p14="http://schemas.microsoft.com/office/powerpoint/2010/main" val="1708257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DDB540-5A3C-4AD5-AAD3-0D1A5AEAB781}" type="datetime1">
              <a:rPr lang="en-US" smtClean="0"/>
              <a:t>11/3/2025</a:t>
            </a:fld>
            <a:endParaRPr lang="en-US"/>
          </a:p>
        </p:txBody>
      </p:sp>
      <p:sp>
        <p:nvSpPr>
          <p:cNvPr id="3" name="Footer Placeholder 2"/>
          <p:cNvSpPr>
            <a:spLocks noGrp="1"/>
          </p:cNvSpPr>
          <p:nvPr>
            <p:ph type="ftr" sz="quarter" idx="11"/>
          </p:nvPr>
        </p:nvSpPr>
        <p:spPr/>
        <p:txBody>
          <a:bodyPr/>
          <a:lstStyle/>
          <a:p>
            <a:r>
              <a:rPr lang="en-US"/>
              <a:t>Dept. of CSE, AITS,Rajampet</a:t>
            </a:r>
          </a:p>
        </p:txBody>
      </p:sp>
      <p:sp>
        <p:nvSpPr>
          <p:cNvPr id="4" name="Slide Number Placeholder 3"/>
          <p:cNvSpPr>
            <a:spLocks noGrp="1"/>
          </p:cNvSpPr>
          <p:nvPr>
            <p:ph type="sldNum" sz="quarter" idx="12"/>
          </p:nvPr>
        </p:nvSpPr>
        <p:spPr/>
        <p:txBody>
          <a:bodyPr/>
          <a:lstStyle/>
          <a:p>
            <a:fld id="{24045EF9-4BF9-47DC-8719-C428B1527DDF}" type="slidenum">
              <a:rPr lang="en-US" smtClean="0"/>
              <a:t>‹#›</a:t>
            </a:fld>
            <a:endParaRPr lang="en-US"/>
          </a:p>
        </p:txBody>
      </p:sp>
    </p:spTree>
    <p:extLst>
      <p:ext uri="{BB962C8B-B14F-4D97-AF65-F5344CB8AC3E}">
        <p14:creationId xmlns:p14="http://schemas.microsoft.com/office/powerpoint/2010/main" val="2265989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3EEBF8-EE30-46E3-A685-558B5769BD04}" type="datetime1">
              <a:rPr lang="en-US" smtClean="0"/>
              <a:t>11/3/2025</a:t>
            </a:fld>
            <a:endParaRPr lang="en-US"/>
          </a:p>
        </p:txBody>
      </p:sp>
      <p:sp>
        <p:nvSpPr>
          <p:cNvPr id="6" name="Footer Placeholder 5"/>
          <p:cNvSpPr>
            <a:spLocks noGrp="1"/>
          </p:cNvSpPr>
          <p:nvPr>
            <p:ph type="ftr" sz="quarter" idx="11"/>
          </p:nvPr>
        </p:nvSpPr>
        <p:spPr/>
        <p:txBody>
          <a:bodyPr/>
          <a:lstStyle/>
          <a:p>
            <a:r>
              <a:rPr lang="en-US"/>
              <a:t>Dept. of CSE, AITS,Rajampet</a:t>
            </a:r>
          </a:p>
        </p:txBody>
      </p:sp>
      <p:sp>
        <p:nvSpPr>
          <p:cNvPr id="7" name="Slide Number Placeholder 6"/>
          <p:cNvSpPr>
            <a:spLocks noGrp="1"/>
          </p:cNvSpPr>
          <p:nvPr>
            <p:ph type="sldNum" sz="quarter" idx="12"/>
          </p:nvPr>
        </p:nvSpPr>
        <p:spPr/>
        <p:txBody>
          <a:bodyPr/>
          <a:lstStyle/>
          <a:p>
            <a:fld id="{24045EF9-4BF9-47DC-8719-C428B1527DDF}" type="slidenum">
              <a:rPr lang="en-US" smtClean="0"/>
              <a:t>‹#›</a:t>
            </a:fld>
            <a:endParaRPr lang="en-US"/>
          </a:p>
        </p:txBody>
      </p:sp>
    </p:spTree>
    <p:extLst>
      <p:ext uri="{BB962C8B-B14F-4D97-AF65-F5344CB8AC3E}">
        <p14:creationId xmlns:p14="http://schemas.microsoft.com/office/powerpoint/2010/main" val="523903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DDDD7C-0421-49FA-AED7-C0F129B3DBEA}" type="datetime1">
              <a:rPr lang="en-US" smtClean="0"/>
              <a:t>11/3/2025</a:t>
            </a:fld>
            <a:endParaRPr lang="en-US"/>
          </a:p>
        </p:txBody>
      </p:sp>
      <p:sp>
        <p:nvSpPr>
          <p:cNvPr id="6" name="Footer Placeholder 5"/>
          <p:cNvSpPr>
            <a:spLocks noGrp="1"/>
          </p:cNvSpPr>
          <p:nvPr>
            <p:ph type="ftr" sz="quarter" idx="11"/>
          </p:nvPr>
        </p:nvSpPr>
        <p:spPr/>
        <p:txBody>
          <a:bodyPr/>
          <a:lstStyle/>
          <a:p>
            <a:r>
              <a:rPr lang="en-US"/>
              <a:t>Dept. of CSE, AITS,Rajampet</a:t>
            </a:r>
          </a:p>
        </p:txBody>
      </p:sp>
      <p:sp>
        <p:nvSpPr>
          <p:cNvPr id="7" name="Slide Number Placeholder 6"/>
          <p:cNvSpPr>
            <a:spLocks noGrp="1"/>
          </p:cNvSpPr>
          <p:nvPr>
            <p:ph type="sldNum" sz="quarter" idx="12"/>
          </p:nvPr>
        </p:nvSpPr>
        <p:spPr/>
        <p:txBody>
          <a:bodyPr/>
          <a:lstStyle/>
          <a:p>
            <a:fld id="{24045EF9-4BF9-47DC-8719-C428B1527DDF}" type="slidenum">
              <a:rPr lang="en-US" smtClean="0"/>
              <a:t>‹#›</a:t>
            </a:fld>
            <a:endParaRPr lang="en-US"/>
          </a:p>
        </p:txBody>
      </p:sp>
    </p:spTree>
    <p:extLst>
      <p:ext uri="{BB962C8B-B14F-4D97-AF65-F5344CB8AC3E}">
        <p14:creationId xmlns:p14="http://schemas.microsoft.com/office/powerpoint/2010/main" val="1665483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17F28E-8D9F-4099-9058-479E3DC771DF}" type="datetime1">
              <a:rPr lang="en-US" smtClean="0"/>
              <a:t>11/3/2025</a:t>
            </a:fld>
            <a:endParaRPr lang="en-US"/>
          </a:p>
        </p:txBody>
      </p:sp>
      <p:sp>
        <p:nvSpPr>
          <p:cNvPr id="5" name="Footer Placeholder 4"/>
          <p:cNvSpPr>
            <a:spLocks noGrp="1"/>
          </p:cNvSpPr>
          <p:nvPr>
            <p:ph type="ftr" sz="quarter" idx="11"/>
          </p:nvPr>
        </p:nvSpPr>
        <p:spPr/>
        <p:txBody>
          <a:bodyPr/>
          <a:lstStyle/>
          <a:p>
            <a:r>
              <a:rPr lang="en-US"/>
              <a:t>Dept. of CSE, AITS,Rajampet</a:t>
            </a:r>
          </a:p>
        </p:txBody>
      </p:sp>
      <p:sp>
        <p:nvSpPr>
          <p:cNvPr id="6" name="Slide Number Placeholder 5"/>
          <p:cNvSpPr>
            <a:spLocks noGrp="1"/>
          </p:cNvSpPr>
          <p:nvPr>
            <p:ph type="sldNum" sz="quarter" idx="12"/>
          </p:nvPr>
        </p:nvSpPr>
        <p:spPr/>
        <p:txBody>
          <a:bodyPr/>
          <a:lstStyle/>
          <a:p>
            <a:fld id="{24045EF9-4BF9-47DC-8719-C428B1527DDF}" type="slidenum">
              <a:rPr lang="en-US" smtClean="0"/>
              <a:t>‹#›</a:t>
            </a:fld>
            <a:endParaRPr lang="en-US"/>
          </a:p>
        </p:txBody>
      </p:sp>
    </p:spTree>
    <p:extLst>
      <p:ext uri="{BB962C8B-B14F-4D97-AF65-F5344CB8AC3E}">
        <p14:creationId xmlns:p14="http://schemas.microsoft.com/office/powerpoint/2010/main" val="2735773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4DE72C-47CC-4100-97EE-402E15279635}" type="datetime1">
              <a:rPr lang="en-US" smtClean="0"/>
              <a:t>11/3/2025</a:t>
            </a:fld>
            <a:endParaRPr lang="en-US"/>
          </a:p>
        </p:txBody>
      </p:sp>
      <p:sp>
        <p:nvSpPr>
          <p:cNvPr id="5" name="Footer Placeholder 4"/>
          <p:cNvSpPr>
            <a:spLocks noGrp="1"/>
          </p:cNvSpPr>
          <p:nvPr>
            <p:ph type="ftr" sz="quarter" idx="11"/>
          </p:nvPr>
        </p:nvSpPr>
        <p:spPr/>
        <p:txBody>
          <a:bodyPr/>
          <a:lstStyle/>
          <a:p>
            <a:r>
              <a:rPr lang="en-US"/>
              <a:t>Dept. of CSE, AITS,Rajampet</a:t>
            </a:r>
          </a:p>
        </p:txBody>
      </p:sp>
      <p:sp>
        <p:nvSpPr>
          <p:cNvPr id="6" name="Slide Number Placeholder 5"/>
          <p:cNvSpPr>
            <a:spLocks noGrp="1"/>
          </p:cNvSpPr>
          <p:nvPr>
            <p:ph type="sldNum" sz="quarter" idx="12"/>
          </p:nvPr>
        </p:nvSpPr>
        <p:spPr/>
        <p:txBody>
          <a:bodyPr/>
          <a:lstStyle/>
          <a:p>
            <a:fld id="{24045EF9-4BF9-47DC-8719-C428B1527DDF}" type="slidenum">
              <a:rPr lang="en-US" smtClean="0"/>
              <a:t>‹#›</a:t>
            </a:fld>
            <a:endParaRPr lang="en-US"/>
          </a:p>
        </p:txBody>
      </p:sp>
    </p:spTree>
    <p:extLst>
      <p:ext uri="{BB962C8B-B14F-4D97-AF65-F5344CB8AC3E}">
        <p14:creationId xmlns:p14="http://schemas.microsoft.com/office/powerpoint/2010/main" val="3527991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3BB0DD-C3B9-4E7B-8C29-799E1154A712}" type="datetime1">
              <a:rPr lang="en-US" smtClean="0"/>
              <a:t>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CSE, AITS,Rajampet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045EF9-4BF9-47DC-8719-C428B1527DDF}" type="slidenum">
              <a:rPr lang="en-US" smtClean="0"/>
              <a:t>‹#›</a:t>
            </a:fld>
            <a:endParaRPr lang="en-US"/>
          </a:p>
        </p:txBody>
      </p:sp>
    </p:spTree>
    <p:extLst>
      <p:ext uri="{BB962C8B-B14F-4D97-AF65-F5344CB8AC3E}">
        <p14:creationId xmlns:p14="http://schemas.microsoft.com/office/powerpoint/2010/main" val="18181003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a:extLst>
              <a:ext uri="{FF2B5EF4-FFF2-40B4-BE49-F238E27FC236}">
                <a16:creationId xmlns:a16="http://schemas.microsoft.com/office/drawing/2014/main" id="{5C134922-C6E9-9BD7-ED1C-0D4EC2DB4286}"/>
              </a:ext>
            </a:extLst>
          </p:cNvPr>
          <p:cNvSpPr>
            <a:spLocks noChangeArrowheads="1"/>
          </p:cNvSpPr>
          <p:nvPr/>
        </p:nvSpPr>
        <p:spPr bwMode="auto">
          <a:xfrm>
            <a:off x="290090" y="292823"/>
            <a:ext cx="1143506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r>
              <a:rPr lang="en-US" sz="2800" b="1" dirty="0">
                <a:solidFill>
                  <a:srgbClr val="7030A0"/>
                </a:solidFill>
              </a:rPr>
              <a:t>THE THIRD INTERNATIONAL CONFERENCE ON EMERGING APPLICATIONS OF MATERIAL SCIENCE AND TECHNOLOGY [ICEAMST 2025]</a:t>
            </a:r>
            <a:endParaRPr lang="en-IN" altLang="en-US" sz="2800" b="1" dirty="0">
              <a:solidFill>
                <a:srgbClr val="7030A0"/>
              </a:solidFill>
              <a:ea typeface="SimSun" panose="02010600030101010101" pitchFamily="2" charset="-122"/>
            </a:endParaRPr>
          </a:p>
        </p:txBody>
      </p:sp>
      <p:sp>
        <p:nvSpPr>
          <p:cNvPr id="12" name="Rectangle 2">
            <a:extLst>
              <a:ext uri="{FF2B5EF4-FFF2-40B4-BE49-F238E27FC236}">
                <a16:creationId xmlns:a16="http://schemas.microsoft.com/office/drawing/2014/main" id="{71E0E1EC-61D9-148A-4C46-DBE74DF355BA}"/>
              </a:ext>
            </a:extLst>
          </p:cNvPr>
          <p:cNvSpPr>
            <a:spLocks noChangeArrowheads="1"/>
          </p:cNvSpPr>
          <p:nvPr/>
        </p:nvSpPr>
        <p:spPr bwMode="auto">
          <a:xfrm>
            <a:off x="290090" y="1677035"/>
            <a:ext cx="11525355" cy="144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lnSpc>
                <a:spcPct val="115000"/>
              </a:lnSpc>
              <a:spcAft>
                <a:spcPts val="800"/>
              </a:spcAft>
            </a:pPr>
            <a:r>
              <a:rPr lang="en-US" sz="2400" dirty="0">
                <a:solidFill>
                  <a:srgbClr val="FF0000"/>
                </a:solidFill>
              </a:rPr>
              <a:t>DATA DETOX: A SMART AND VISUAL SYSTEM FOR ANOMALY DETECTION AND INTERACTIVE CLEANING</a:t>
            </a:r>
            <a:endParaRPr lang="en-IN" sz="2400" b="1" dirty="0">
              <a:solidFill>
                <a:srgbClr val="FF0000"/>
              </a:solidFill>
              <a:latin typeface="Times New Roman" panose="02020603050405020304" pitchFamily="18" charset="0"/>
              <a:ea typeface="Times New Roman" panose="02020603050405020304" pitchFamily="18" charset="0"/>
            </a:endParaRPr>
          </a:p>
          <a:p>
            <a:pPr algn="ctr">
              <a:lnSpc>
                <a:spcPct val="115000"/>
              </a:lnSpc>
              <a:spcAft>
                <a:spcPts val="800"/>
              </a:spcAft>
            </a:pPr>
            <a:r>
              <a:rPr lang="en-IN" sz="2400" b="1" dirty="0">
                <a:latin typeface="Times New Roman" panose="02020603050405020304" pitchFamily="18" charset="0"/>
                <a:ea typeface="Times New Roman" panose="02020603050405020304" pitchFamily="18" charset="0"/>
              </a:rPr>
              <a:t>PAPER ID - 868</a:t>
            </a:r>
            <a:br>
              <a:rPr lang="en-IN" sz="2400" b="1" dirty="0">
                <a:latin typeface="Times New Roman" panose="02020603050405020304" pitchFamily="18" charset="0"/>
                <a:ea typeface="Times New Roman" panose="02020603050405020304" pitchFamily="18" charset="0"/>
              </a:rPr>
            </a:br>
            <a:endParaRPr kumimoji="0" lang="en-US"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SimSun" panose="02010600030101010101" pitchFamily="2" charset="-122"/>
              <a:cs typeface="Arial" panose="020B0604020202020204" pitchFamily="34" charset="0"/>
              <a:sym typeface="Arial" panose="020B0604020202020204" pitchFamily="34" charset="0"/>
            </a:endParaRPr>
          </a:p>
          <a:p>
            <a:pPr algn="ctr"/>
            <a:endParaRPr lang="en-US" altLang="en-US" sz="2400" b="1" dirty="0">
              <a:solidFill>
                <a:schemeClr val="tx1"/>
              </a:solidFill>
              <a:latin typeface="Times New Roman" panose="02020603050405020304" pitchFamily="18" charset="0"/>
              <a:ea typeface="SimSun" panose="02010600030101010101" pitchFamily="2" charset="-122"/>
            </a:endParaRPr>
          </a:p>
          <a:p>
            <a:pPr marL="0" marR="0" lvl="0" indent="0" algn="just"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defRPr/>
            </a:pPr>
            <a:r>
              <a:rPr kumimoji="0" lang="en-US"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SimSun" panose="02010600030101010101" pitchFamily="2" charset="-122"/>
                <a:cs typeface="Arial" panose="020B0604020202020204" pitchFamily="34" charset="0"/>
                <a:sym typeface="Arial" panose="020B0604020202020204" pitchFamily="34" charset="0"/>
              </a:rPr>
              <a:t> </a:t>
            </a:r>
            <a:br>
              <a:rPr lang="en-US" altLang="en-US" sz="3600" dirty="0">
                <a:solidFill>
                  <a:srgbClr val="002060"/>
                </a:solidFill>
                <a:latin typeface="Times New Roman" panose="02020603050405020304" pitchFamily="18" charset="0"/>
                <a:ea typeface="SimSun" panose="02010600030101010101" pitchFamily="2" charset="-122"/>
              </a:rPr>
            </a:br>
            <a:endParaRPr lang="en-IN" altLang="en-US" sz="3600" dirty="0">
              <a:solidFill>
                <a:srgbClr val="002060"/>
              </a:solidFill>
              <a:ea typeface="SimSun" panose="02010600030101010101" pitchFamily="2" charset="-122"/>
            </a:endParaRPr>
          </a:p>
        </p:txBody>
      </p:sp>
      <p:sp>
        <p:nvSpPr>
          <p:cNvPr id="13" name="Text Box 1">
            <a:extLst>
              <a:ext uri="{FF2B5EF4-FFF2-40B4-BE49-F238E27FC236}">
                <a16:creationId xmlns:a16="http://schemas.microsoft.com/office/drawing/2014/main" id="{0B8001F6-54AA-A89C-C749-AA24351CA63F}"/>
              </a:ext>
            </a:extLst>
          </p:cNvPr>
          <p:cNvSpPr txBox="1"/>
          <p:nvPr/>
        </p:nvSpPr>
        <p:spPr>
          <a:xfrm>
            <a:off x="380380" y="3131299"/>
            <a:ext cx="11435065" cy="2923134"/>
          </a:xfrm>
          <a:prstGeom prst="rect">
            <a:avLst/>
          </a:prstGeom>
          <a:noFill/>
        </p:spPr>
        <p:txBody>
          <a:bodyPr wrap="square" rtlCol="0" anchor="t">
            <a:noAutofit/>
          </a:bodyPr>
          <a:lstStyle/>
          <a:p>
            <a:pPr marL="0" marR="0" lvl="0" indent="0" algn="just"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defRPr/>
            </a:pPr>
            <a:r>
              <a:rPr lang="en-US" altLang="en-US" sz="2400" noProof="0" dirty="0">
                <a:ln>
                  <a:noFill/>
                </a:ln>
                <a:solidFill>
                  <a:srgbClr val="002060"/>
                </a:solidFill>
                <a:effectLst/>
                <a:uLnTx/>
                <a:uFillTx/>
                <a:latin typeface="Times New Roman" panose="02020603050405020304" pitchFamily="18" charset="0"/>
                <a:ea typeface="SimSun" panose="02010600030101010101" pitchFamily="2" charset="-122"/>
                <a:sym typeface="Arial" panose="020B0604020202020204" pitchFamily="34" charset="0"/>
              </a:rPr>
              <a:t>Authors:                                                                                            Presented By:-     </a:t>
            </a:r>
            <a:endParaRPr kumimoji="0" lang="en-US" altLang="en-US" sz="2400" b="0" i="0" u="none" strike="noStrike" kern="1200" cap="none" spc="0" normalizeH="0" baseline="0" noProof="0" dirty="0">
              <a:ln>
                <a:noFill/>
              </a:ln>
              <a:solidFill>
                <a:srgbClr val="002060"/>
              </a:solidFill>
              <a:effectLst/>
              <a:uLnTx/>
              <a:uFillTx/>
              <a:latin typeface="Times New Roman" panose="02020603050405020304" pitchFamily="18" charset="0"/>
              <a:ea typeface="SimSun" panose="02010600030101010101" pitchFamily="2" charset="-122"/>
              <a:cs typeface="Arial" panose="020B0604020202020204" pitchFamily="34" charset="0"/>
              <a:sym typeface="Arial" panose="020B0604020202020204" pitchFamily="34" charset="0"/>
            </a:endParaRPr>
          </a:p>
          <a:p>
            <a:pPr marL="457200" marR="0" lvl="0" indent="-457200" algn="just" defTabSz="914400" rtl="0" eaLnBrk="1" fontAlgn="base" latinLnBrk="0" hangingPunct="1">
              <a:lnSpc>
                <a:spcPct val="100000"/>
              </a:lnSpc>
              <a:spcBef>
                <a:spcPct val="0"/>
              </a:spcBef>
              <a:spcAft>
                <a:spcPct val="0"/>
              </a:spcAft>
              <a:buClr>
                <a:srgbClr val="000000"/>
              </a:buClr>
              <a:buSzTx/>
              <a:buFont typeface="+mj-lt"/>
              <a:buAutoNum type="arabicPeriod"/>
              <a:defRPr/>
            </a:pPr>
            <a:r>
              <a:rPr lang="en-US" altLang="en-US" sz="2400" noProof="0" dirty="0">
                <a:ln>
                  <a:noFill/>
                </a:ln>
                <a:solidFill>
                  <a:srgbClr val="002060"/>
                </a:solidFill>
                <a:effectLst/>
                <a:uLnTx/>
                <a:uFillTx/>
                <a:latin typeface="Times New Roman" panose="02020603050405020304" pitchFamily="18" charset="0"/>
                <a:ea typeface="SimSun" panose="02010600030101010101" pitchFamily="2" charset="-122"/>
                <a:sym typeface="Arial" panose="020B0604020202020204" pitchFamily="34" charset="0"/>
              </a:rPr>
              <a:t>N .Swathi								</a:t>
            </a:r>
            <a:endParaRPr kumimoji="0" lang="en-US" altLang="en-US" sz="2400" b="0" i="0" u="none" strike="noStrike" kern="1200" cap="none" spc="0" normalizeH="0" baseline="0" noProof="0" dirty="0">
              <a:ln>
                <a:noFill/>
              </a:ln>
              <a:solidFill>
                <a:srgbClr val="002060"/>
              </a:solidFill>
              <a:effectLst/>
              <a:uLnTx/>
              <a:uFillTx/>
              <a:latin typeface="Times New Roman" panose="02020603050405020304" pitchFamily="18" charset="0"/>
              <a:ea typeface="SimSun" panose="02010600030101010101" pitchFamily="2" charset="-122"/>
              <a:cs typeface="Arial" panose="020B0604020202020204" pitchFamily="34" charset="0"/>
              <a:sym typeface="Arial" panose="020B0604020202020204" pitchFamily="34" charset="0"/>
            </a:endParaRPr>
          </a:p>
          <a:p>
            <a:pPr marL="457200" marR="0" lvl="0" indent="-457200" algn="just" defTabSz="914400" rtl="0" eaLnBrk="1" fontAlgn="base" latinLnBrk="0" hangingPunct="1">
              <a:lnSpc>
                <a:spcPct val="100000"/>
              </a:lnSpc>
              <a:spcBef>
                <a:spcPct val="0"/>
              </a:spcBef>
              <a:spcAft>
                <a:spcPct val="0"/>
              </a:spcAft>
              <a:buClr>
                <a:srgbClr val="000000"/>
              </a:buClr>
              <a:buSzTx/>
              <a:buFont typeface="+mj-lt"/>
              <a:buAutoNum type="arabicPeriod"/>
              <a:defRPr/>
            </a:pPr>
            <a:r>
              <a:rPr lang="en-US" altLang="en-US" sz="2400" noProof="0" dirty="0">
                <a:ln>
                  <a:noFill/>
                </a:ln>
                <a:solidFill>
                  <a:srgbClr val="002060"/>
                </a:solidFill>
                <a:effectLst/>
                <a:uLnTx/>
                <a:uFillTx/>
                <a:latin typeface="Times New Roman" panose="02020603050405020304" pitchFamily="18" charset="0"/>
                <a:ea typeface="SimSun" panose="02010600030101010101" pitchFamily="2" charset="-122"/>
                <a:sym typeface="Arial" panose="020B0604020202020204" pitchFamily="34" charset="0"/>
              </a:rPr>
              <a:t>S.Fahimuddin                                                                                      Dept. of AI&amp;DS                                                                                                     </a:t>
            </a:r>
            <a:endParaRPr kumimoji="0" lang="en-US" altLang="en-US" sz="2400" b="0" i="0" u="none" strike="noStrike" kern="1200" cap="none" spc="0" normalizeH="0" baseline="0" noProof="0" dirty="0">
              <a:ln>
                <a:noFill/>
              </a:ln>
              <a:solidFill>
                <a:srgbClr val="002060"/>
              </a:solidFill>
              <a:effectLst/>
              <a:uLnTx/>
              <a:uFillTx/>
              <a:latin typeface="Times New Roman" panose="02020603050405020304" pitchFamily="18" charset="0"/>
              <a:ea typeface="SimSun" panose="02010600030101010101" pitchFamily="2" charset="-122"/>
              <a:cs typeface="Arial" panose="020B0604020202020204" pitchFamily="34" charset="0"/>
              <a:sym typeface="Arial" panose="020B0604020202020204" pitchFamily="34" charset="0"/>
            </a:endParaRPr>
          </a:p>
          <a:p>
            <a:pPr marL="457200" marR="0" lvl="0" indent="-457200" algn="just" defTabSz="914400" rtl="0" eaLnBrk="1" fontAlgn="base" latinLnBrk="0" hangingPunct="1">
              <a:lnSpc>
                <a:spcPct val="100000"/>
              </a:lnSpc>
              <a:spcBef>
                <a:spcPct val="0"/>
              </a:spcBef>
              <a:spcAft>
                <a:spcPct val="0"/>
              </a:spcAft>
              <a:buClr>
                <a:srgbClr val="000000"/>
              </a:buClr>
              <a:buSzTx/>
              <a:buFont typeface="+mj-lt"/>
              <a:buAutoNum type="arabicPeriod"/>
              <a:defRPr/>
            </a:pPr>
            <a:r>
              <a:rPr lang="en-US" altLang="en-US" sz="2400" noProof="0" dirty="0">
                <a:ln>
                  <a:noFill/>
                </a:ln>
                <a:solidFill>
                  <a:srgbClr val="002060"/>
                </a:solidFill>
                <a:effectLst/>
                <a:uLnTx/>
                <a:uFillTx/>
                <a:latin typeface="Times New Roman" panose="02020603050405020304" pitchFamily="18" charset="0"/>
                <a:ea typeface="SimSun" panose="02010600030101010101" pitchFamily="2" charset="-122"/>
                <a:sym typeface="Arial" panose="020B0604020202020204" pitchFamily="34" charset="0"/>
              </a:rPr>
              <a:t>H .Keerthi 								       </a:t>
            </a:r>
            <a:r>
              <a:rPr lang="en-US" altLang="en-US" sz="2400" noProof="0" dirty="0" err="1">
                <a:ln>
                  <a:noFill/>
                </a:ln>
                <a:solidFill>
                  <a:srgbClr val="002060"/>
                </a:solidFill>
                <a:effectLst/>
                <a:uLnTx/>
                <a:uFillTx/>
                <a:latin typeface="Times New Roman" panose="02020603050405020304" pitchFamily="18" charset="0"/>
                <a:ea typeface="SimSun" panose="02010600030101010101" pitchFamily="2" charset="-122"/>
                <a:sym typeface="Arial" panose="020B0604020202020204" pitchFamily="34" charset="0"/>
              </a:rPr>
              <a:t>AITS,Rajampet</a:t>
            </a:r>
            <a:r>
              <a:rPr lang="en-US" altLang="en-US" sz="2400" noProof="0" dirty="0">
                <a:ln>
                  <a:noFill/>
                </a:ln>
                <a:solidFill>
                  <a:srgbClr val="002060"/>
                </a:solidFill>
                <a:effectLst/>
                <a:uLnTx/>
                <a:uFillTx/>
                <a:latin typeface="Times New Roman" panose="02020603050405020304" pitchFamily="18" charset="0"/>
                <a:ea typeface="SimSun" panose="02010600030101010101" pitchFamily="2" charset="-122"/>
                <a:sym typeface="Arial" panose="020B0604020202020204" pitchFamily="34" charset="0"/>
              </a:rPr>
              <a:t>                                                     </a:t>
            </a:r>
            <a:endParaRPr kumimoji="0" lang="en-US" altLang="en-US" sz="2400" b="0" i="0" u="none" strike="noStrike" kern="1200" cap="none" spc="0" normalizeH="0" baseline="0" noProof="0" dirty="0">
              <a:ln>
                <a:noFill/>
              </a:ln>
              <a:solidFill>
                <a:srgbClr val="002060"/>
              </a:solidFill>
              <a:effectLst/>
              <a:uLnTx/>
              <a:uFillTx/>
              <a:latin typeface="Times New Roman" panose="02020603050405020304" pitchFamily="18" charset="0"/>
              <a:ea typeface="SimSun" panose="02010600030101010101" pitchFamily="2" charset="-122"/>
              <a:cs typeface="Arial" panose="020B0604020202020204" pitchFamily="34" charset="0"/>
              <a:sym typeface="Arial" panose="020B0604020202020204" pitchFamily="34" charset="0"/>
            </a:endParaRPr>
          </a:p>
          <a:p>
            <a:pPr marL="457200" marR="0" lvl="0" indent="-457200" algn="just" defTabSz="914400" rtl="0" eaLnBrk="1" fontAlgn="base" latinLnBrk="0" hangingPunct="1">
              <a:lnSpc>
                <a:spcPct val="100000"/>
              </a:lnSpc>
              <a:spcBef>
                <a:spcPct val="0"/>
              </a:spcBef>
              <a:spcAft>
                <a:spcPct val="0"/>
              </a:spcAft>
              <a:buClr>
                <a:srgbClr val="000000"/>
              </a:buClr>
              <a:buSzTx/>
              <a:buFont typeface="+mj-lt"/>
              <a:buAutoNum type="arabicPeriod"/>
              <a:defRPr/>
            </a:pPr>
            <a:r>
              <a:rPr kumimoji="0" lang="en-US" altLang="en-US" sz="2400" b="0" i="0" u="none" strike="noStrike" kern="1200" cap="none" spc="0" normalizeH="0" baseline="0" noProof="0" dirty="0">
                <a:ln>
                  <a:noFill/>
                </a:ln>
                <a:solidFill>
                  <a:srgbClr val="002060"/>
                </a:solidFill>
                <a:effectLst/>
                <a:uLnTx/>
                <a:uFillTx/>
                <a:latin typeface="Times New Roman" panose="02020603050405020304" pitchFamily="18" charset="0"/>
                <a:ea typeface="SimSun" panose="02010600030101010101" pitchFamily="2" charset="-122"/>
                <a:cs typeface="Arial" panose="020B0604020202020204" pitchFamily="34" charset="0"/>
                <a:sym typeface="Arial" panose="020B0604020202020204" pitchFamily="34" charset="0"/>
              </a:rPr>
              <a:t>K. </a:t>
            </a:r>
            <a:r>
              <a:rPr lang="en-US" altLang="en-US" sz="2400" dirty="0">
                <a:solidFill>
                  <a:srgbClr val="002060"/>
                </a:solidFill>
                <a:latin typeface="Times New Roman" panose="02020603050405020304" pitchFamily="18" charset="0"/>
                <a:ea typeface="SimSun" panose="02010600030101010101" pitchFamily="2" charset="-122"/>
                <a:cs typeface="Arial" panose="020B0604020202020204" pitchFamily="34" charset="0"/>
                <a:sym typeface="Arial" panose="020B0604020202020204" pitchFamily="34" charset="0"/>
              </a:rPr>
              <a:t>Dinesh Reddy</a:t>
            </a:r>
            <a:endParaRPr kumimoji="0" lang="en-US" altLang="en-US" sz="2400" b="0" i="0" u="none" strike="noStrike" kern="1200" cap="none" spc="0" normalizeH="0" baseline="0" noProof="0" dirty="0">
              <a:ln>
                <a:noFill/>
              </a:ln>
              <a:solidFill>
                <a:srgbClr val="002060"/>
              </a:solidFill>
              <a:effectLst/>
              <a:uLnTx/>
              <a:uFillTx/>
              <a:latin typeface="Times New Roman" panose="02020603050405020304" pitchFamily="18" charset="0"/>
              <a:ea typeface="SimSun" panose="02010600030101010101" pitchFamily="2" charset="-122"/>
              <a:cs typeface="Arial" panose="020B0604020202020204" pitchFamily="34" charset="0"/>
              <a:sym typeface="Arial" panose="020B0604020202020204" pitchFamily="34" charset="0"/>
            </a:endParaRPr>
          </a:p>
          <a:p>
            <a:pPr marL="457200" marR="0" lvl="0" indent="-457200" algn="just" defTabSz="914400" rtl="0" eaLnBrk="1" fontAlgn="base" latinLnBrk="0" hangingPunct="1">
              <a:lnSpc>
                <a:spcPct val="100000"/>
              </a:lnSpc>
              <a:spcBef>
                <a:spcPct val="0"/>
              </a:spcBef>
              <a:spcAft>
                <a:spcPct val="0"/>
              </a:spcAft>
              <a:buClr>
                <a:srgbClr val="000000"/>
              </a:buClr>
              <a:buSzTx/>
              <a:buFont typeface="+mj-lt"/>
              <a:buAutoNum type="arabicPeriod"/>
              <a:defRPr/>
            </a:pPr>
            <a:r>
              <a:rPr lang="en-US" altLang="en-US" sz="2400" noProof="0" dirty="0">
                <a:ln>
                  <a:noFill/>
                </a:ln>
                <a:solidFill>
                  <a:srgbClr val="002060"/>
                </a:solidFill>
                <a:effectLst/>
                <a:uLnTx/>
                <a:uFillTx/>
                <a:latin typeface="Times New Roman" panose="02020603050405020304" pitchFamily="18" charset="0"/>
                <a:ea typeface="SimSun" panose="02010600030101010101" pitchFamily="2" charset="-122"/>
                <a:sym typeface="Arial" panose="020B0604020202020204" pitchFamily="34" charset="0"/>
              </a:rPr>
              <a:t>A. Mahammad Sohail</a:t>
            </a:r>
          </a:p>
          <a:p>
            <a:pPr marL="457200" marR="0" lvl="0" indent="-457200" algn="just" defTabSz="914400" rtl="0" eaLnBrk="1" fontAlgn="base" latinLnBrk="0" hangingPunct="1">
              <a:lnSpc>
                <a:spcPct val="100000"/>
              </a:lnSpc>
              <a:spcBef>
                <a:spcPct val="0"/>
              </a:spcBef>
              <a:spcAft>
                <a:spcPct val="0"/>
              </a:spcAft>
              <a:buClr>
                <a:srgbClr val="000000"/>
              </a:buClr>
              <a:buSzTx/>
              <a:buFont typeface="+mj-lt"/>
              <a:buAutoNum type="arabicPeriod"/>
              <a:defRPr/>
            </a:pPr>
            <a:r>
              <a:rPr kumimoji="0" lang="en-US" altLang="en-US" sz="2400" b="0" i="0" u="none" strike="noStrike" kern="1200" cap="none" spc="0" normalizeH="0" baseline="0" noProof="0" dirty="0">
                <a:ln>
                  <a:noFill/>
                </a:ln>
                <a:solidFill>
                  <a:srgbClr val="002060"/>
                </a:solidFill>
                <a:effectLst/>
                <a:uLnTx/>
                <a:uFillTx/>
                <a:latin typeface="Times New Roman" panose="02020603050405020304" pitchFamily="18" charset="0"/>
                <a:ea typeface="SimSun" panose="02010600030101010101" pitchFamily="2" charset="-122"/>
                <a:cs typeface="Arial" panose="020B0604020202020204" pitchFamily="34" charset="0"/>
                <a:sym typeface="Arial" panose="020B0604020202020204" pitchFamily="34" charset="0"/>
              </a:rPr>
              <a:t>A. </a:t>
            </a:r>
            <a:r>
              <a:rPr kumimoji="0" lang="en-US" altLang="en-US" sz="2400" b="0" i="0" u="none" strike="noStrike" kern="1200" cap="none" spc="0" normalizeH="0" baseline="0" noProof="0" dirty="0" err="1">
                <a:ln>
                  <a:noFill/>
                </a:ln>
                <a:solidFill>
                  <a:srgbClr val="002060"/>
                </a:solidFill>
                <a:effectLst/>
                <a:uLnTx/>
                <a:uFillTx/>
                <a:latin typeface="Times New Roman" panose="02020603050405020304" pitchFamily="18" charset="0"/>
                <a:ea typeface="SimSun" panose="02010600030101010101" pitchFamily="2" charset="-122"/>
                <a:cs typeface="Arial" panose="020B0604020202020204" pitchFamily="34" charset="0"/>
                <a:sym typeface="Arial" panose="020B0604020202020204" pitchFamily="34" charset="0"/>
              </a:rPr>
              <a:t>Khadeerulla</a:t>
            </a:r>
            <a:endParaRPr kumimoji="0" lang="en-US" altLang="en-US" sz="2400" b="0" i="0" u="none" strike="noStrike" kern="1200" cap="none" spc="0" normalizeH="0" baseline="0" noProof="0" dirty="0">
              <a:ln>
                <a:noFill/>
              </a:ln>
              <a:solidFill>
                <a:srgbClr val="002060"/>
              </a:solidFill>
              <a:effectLst/>
              <a:uLnTx/>
              <a:uFillTx/>
              <a:latin typeface="Times New Roman" panose="02020603050405020304" pitchFamily="18" charset="0"/>
              <a:ea typeface="SimSun" panose="02010600030101010101" pitchFamily="2" charset="-122"/>
              <a:cs typeface="Arial" panose="020B0604020202020204" pitchFamily="34" charset="0"/>
              <a:sym typeface="Arial" panose="020B0604020202020204" pitchFamily="34" charset="0"/>
            </a:endParaRPr>
          </a:p>
        </p:txBody>
      </p:sp>
      <p:sp>
        <p:nvSpPr>
          <p:cNvPr id="14" name="Date Placeholder 4">
            <a:extLst>
              <a:ext uri="{FF2B5EF4-FFF2-40B4-BE49-F238E27FC236}">
                <a16:creationId xmlns:a16="http://schemas.microsoft.com/office/drawing/2014/main" id="{3335498D-B40D-5BEC-982B-3008FBEDBC6D}"/>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638CCBF3-44CF-4E0F-B703-C85F532807F5}" type="datetime1">
              <a:rPr lang="en-US" smtClean="0"/>
              <a:pPr>
                <a:defRPr/>
              </a:pPr>
              <a:t>11/3/2025</a:t>
            </a:fld>
            <a:endParaRPr lang="en-US"/>
          </a:p>
        </p:txBody>
      </p:sp>
      <p:sp>
        <p:nvSpPr>
          <p:cNvPr id="15" name="Slide Number Placeholder 5">
            <a:extLst>
              <a:ext uri="{FF2B5EF4-FFF2-40B4-BE49-F238E27FC236}">
                <a16:creationId xmlns:a16="http://schemas.microsoft.com/office/drawing/2014/main" id="{77920670-5C35-E518-5C39-E7C17D167664}"/>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97990E2-83FC-4479-A9D7-4872A6E46ADD}" type="slidenum">
              <a:rPr lang="en-US" altLang="en-US" smtClean="0"/>
              <a:pPr>
                <a:defRPr/>
              </a:pPr>
              <a:t>1</a:t>
            </a:fld>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250">
        <p:wipe/>
      </p:transition>
    </mc:Choice>
    <mc:Fallback xmlns="">
      <p:transition spd="slow">
        <p:wip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13F7E-0275-EB8C-B747-CA31C4634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C0DEC-EC7D-DE03-E1F1-D392F3726045}"/>
              </a:ext>
            </a:extLst>
          </p:cNvPr>
          <p:cNvSpPr>
            <a:spLocks noGrp="1"/>
          </p:cNvSpPr>
          <p:nvPr>
            <p:ph type="title"/>
          </p:nvPr>
        </p:nvSpPr>
        <p:spPr>
          <a:xfrm>
            <a:off x="838200" y="365125"/>
            <a:ext cx="10515600" cy="806449"/>
          </a:xfrm>
        </p:spPr>
        <p:txBody>
          <a:bodyPr>
            <a:normAutofit/>
          </a:bodyPr>
          <a:lstStyle/>
          <a:p>
            <a:pPr algn="ctr"/>
            <a:r>
              <a:rPr lang="en-US" sz="4000" b="1" dirty="0"/>
              <a:t>TABLE OF CONTENTS</a:t>
            </a:r>
          </a:p>
        </p:txBody>
      </p:sp>
      <p:sp>
        <p:nvSpPr>
          <p:cNvPr id="3" name="Content Placeholder 2">
            <a:extLst>
              <a:ext uri="{FF2B5EF4-FFF2-40B4-BE49-F238E27FC236}">
                <a16:creationId xmlns:a16="http://schemas.microsoft.com/office/drawing/2014/main" id="{0D8569AB-9F36-EC43-3EB8-7A97A5090943}"/>
              </a:ext>
            </a:extLst>
          </p:cNvPr>
          <p:cNvSpPr>
            <a:spLocks noGrp="1"/>
          </p:cNvSpPr>
          <p:nvPr>
            <p:ph idx="1"/>
          </p:nvPr>
        </p:nvSpPr>
        <p:spPr>
          <a:xfrm>
            <a:off x="874656" y="1364739"/>
            <a:ext cx="10875745" cy="4991611"/>
          </a:xfrm>
        </p:spPr>
        <p:txBody>
          <a:bodyPr>
            <a:normAutofit fontScale="92500" lnSpcReduction="20000"/>
          </a:bodyPr>
          <a:lstStyle/>
          <a:p>
            <a:pPr marL="494665" marR="185420" indent="-342900" algn="just">
              <a:lnSpc>
                <a:spcPct val="150000"/>
              </a:lnSpc>
              <a:spcBef>
                <a:spcPts val="0"/>
              </a:spcBef>
              <a:spcAft>
                <a:spcPts val="0"/>
              </a:spcAft>
              <a:buAutoNum type="arabicPeriod"/>
            </a:pPr>
            <a:r>
              <a:rPr lang="en-US" dirty="0">
                <a:effectLst/>
                <a:latin typeface="Times New Roman" panose="02020603050405020304" pitchFamily="18" charset="0"/>
                <a:ea typeface="Times New Roman" panose="02020603050405020304" pitchFamily="18" charset="0"/>
              </a:rPr>
              <a:t>Problem Definition</a:t>
            </a:r>
          </a:p>
          <a:p>
            <a:pPr marL="494665" marR="185420" indent="-342900" algn="just">
              <a:lnSpc>
                <a:spcPct val="150000"/>
              </a:lnSpc>
              <a:spcBef>
                <a:spcPts val="0"/>
              </a:spcBef>
              <a:spcAft>
                <a:spcPts val="0"/>
              </a:spcAft>
              <a:buAutoNum type="arabicPeriod"/>
            </a:pPr>
            <a:r>
              <a:rPr lang="en-US" dirty="0">
                <a:latin typeface="Times New Roman" panose="02020603050405020304" pitchFamily="18" charset="0"/>
                <a:ea typeface="Times New Roman" panose="02020603050405020304" pitchFamily="18" charset="0"/>
              </a:rPr>
              <a:t>Abstract</a:t>
            </a:r>
          </a:p>
          <a:p>
            <a:pPr marL="494665" marR="185420" indent="-342900" algn="just">
              <a:lnSpc>
                <a:spcPct val="150000"/>
              </a:lnSpc>
              <a:spcBef>
                <a:spcPts val="0"/>
              </a:spcBef>
              <a:spcAft>
                <a:spcPts val="0"/>
              </a:spcAft>
              <a:buAutoNum type="arabicPeriod"/>
            </a:pPr>
            <a:r>
              <a:rPr lang="en-US" dirty="0">
                <a:effectLst/>
                <a:latin typeface="Times New Roman" panose="02020603050405020304" pitchFamily="18" charset="0"/>
                <a:ea typeface="Times New Roman" panose="02020603050405020304" pitchFamily="18" charset="0"/>
              </a:rPr>
              <a:t>Existing Work</a:t>
            </a:r>
          </a:p>
          <a:p>
            <a:pPr marL="494665" marR="185420" indent="-342900" algn="just">
              <a:lnSpc>
                <a:spcPct val="150000"/>
              </a:lnSpc>
              <a:spcBef>
                <a:spcPts val="0"/>
              </a:spcBef>
              <a:spcAft>
                <a:spcPts val="0"/>
              </a:spcAft>
              <a:buAutoNum type="arabicPeriod"/>
            </a:pPr>
            <a:r>
              <a:rPr lang="en-US" dirty="0">
                <a:latin typeface="Times New Roman" panose="02020603050405020304" pitchFamily="18" charset="0"/>
                <a:ea typeface="Times New Roman" panose="02020603050405020304" pitchFamily="18" charset="0"/>
              </a:rPr>
              <a:t>Literature Survey</a:t>
            </a:r>
          </a:p>
          <a:p>
            <a:pPr marL="494665" marR="185420" indent="-342900" algn="just">
              <a:lnSpc>
                <a:spcPct val="150000"/>
              </a:lnSpc>
              <a:spcBef>
                <a:spcPts val="0"/>
              </a:spcBef>
              <a:spcAft>
                <a:spcPts val="0"/>
              </a:spcAft>
              <a:buAutoNum type="arabicPeriod"/>
            </a:pPr>
            <a:r>
              <a:rPr lang="en-US" dirty="0">
                <a:effectLst/>
                <a:latin typeface="Times New Roman" panose="02020603050405020304" pitchFamily="18" charset="0"/>
                <a:ea typeface="Times New Roman" panose="02020603050405020304" pitchFamily="18" charset="0"/>
              </a:rPr>
              <a:t>Pr</a:t>
            </a:r>
            <a:r>
              <a:rPr lang="en-US" dirty="0">
                <a:latin typeface="Times New Roman" panose="02020603050405020304" pitchFamily="18" charset="0"/>
                <a:ea typeface="Times New Roman" panose="02020603050405020304" pitchFamily="18" charset="0"/>
              </a:rPr>
              <a:t>oposed Work</a:t>
            </a:r>
          </a:p>
          <a:p>
            <a:pPr marL="494665" marR="185420" indent="-342900" algn="just">
              <a:lnSpc>
                <a:spcPct val="150000"/>
              </a:lnSpc>
              <a:spcBef>
                <a:spcPts val="0"/>
              </a:spcBef>
              <a:spcAft>
                <a:spcPts val="0"/>
              </a:spcAft>
              <a:buAutoNum type="arabicPeriod"/>
            </a:pPr>
            <a:r>
              <a:rPr lang="en-US" dirty="0">
                <a:effectLst/>
                <a:latin typeface="Times New Roman" panose="02020603050405020304" pitchFamily="18" charset="0"/>
                <a:ea typeface="Times New Roman" panose="02020603050405020304" pitchFamily="18" charset="0"/>
              </a:rPr>
              <a:t>Mod</a:t>
            </a:r>
            <a:r>
              <a:rPr lang="en-US" dirty="0">
                <a:latin typeface="Times New Roman" panose="02020603050405020304" pitchFamily="18" charset="0"/>
                <a:ea typeface="Times New Roman" panose="02020603050405020304" pitchFamily="18" charset="0"/>
              </a:rPr>
              <a:t>ules</a:t>
            </a:r>
          </a:p>
          <a:p>
            <a:pPr marL="494665" marR="185420" indent="-342900" algn="just">
              <a:lnSpc>
                <a:spcPct val="150000"/>
              </a:lnSpc>
              <a:spcBef>
                <a:spcPts val="0"/>
              </a:spcBef>
              <a:spcAft>
                <a:spcPts val="0"/>
              </a:spcAft>
              <a:buAutoNum type="arabicPeriod"/>
            </a:pPr>
            <a:r>
              <a:rPr lang="en-US" dirty="0">
                <a:latin typeface="Times New Roman" panose="02020603050405020304" pitchFamily="18" charset="0"/>
                <a:ea typeface="Times New Roman" panose="02020603050405020304" pitchFamily="18" charset="0"/>
              </a:rPr>
              <a:t>Coding</a:t>
            </a:r>
          </a:p>
          <a:p>
            <a:pPr marL="494665" marR="185420" indent="-342900" algn="just">
              <a:lnSpc>
                <a:spcPct val="150000"/>
              </a:lnSpc>
              <a:spcBef>
                <a:spcPts val="0"/>
              </a:spcBef>
              <a:spcAft>
                <a:spcPts val="0"/>
              </a:spcAft>
              <a:buAutoNum type="arabicPeriod"/>
            </a:pPr>
            <a:r>
              <a:rPr lang="en-US" dirty="0">
                <a:latin typeface="Times New Roman" panose="02020603050405020304" pitchFamily="18" charset="0"/>
                <a:ea typeface="Times New Roman" panose="02020603050405020304" pitchFamily="18" charset="0"/>
              </a:rPr>
              <a:t>Testing</a:t>
            </a:r>
          </a:p>
          <a:p>
            <a:pPr marL="494665" marR="185420" indent="-342900" algn="just">
              <a:lnSpc>
                <a:spcPct val="150000"/>
              </a:lnSpc>
              <a:spcBef>
                <a:spcPts val="0"/>
              </a:spcBef>
              <a:spcAft>
                <a:spcPts val="0"/>
              </a:spcAft>
              <a:buAutoNum type="arabicPeriod"/>
            </a:pPr>
            <a:r>
              <a:rPr lang="en-US" dirty="0">
                <a:effectLst/>
                <a:latin typeface="Times New Roman" panose="02020603050405020304" pitchFamily="18" charset="0"/>
                <a:ea typeface="Times New Roman" panose="02020603050405020304" pitchFamily="18" charset="0"/>
              </a:rPr>
              <a:t>References</a:t>
            </a:r>
          </a:p>
        </p:txBody>
      </p:sp>
      <p:sp>
        <p:nvSpPr>
          <p:cNvPr id="4" name="Date Placeholder 3">
            <a:extLst>
              <a:ext uri="{FF2B5EF4-FFF2-40B4-BE49-F238E27FC236}">
                <a16:creationId xmlns:a16="http://schemas.microsoft.com/office/drawing/2014/main" id="{B8B30DE0-8F2F-02C1-AA7B-79EB879549C6}"/>
              </a:ext>
            </a:extLst>
          </p:cNvPr>
          <p:cNvSpPr>
            <a:spLocks noGrp="1"/>
          </p:cNvSpPr>
          <p:nvPr>
            <p:ph type="dt" sz="half" idx="10"/>
          </p:nvPr>
        </p:nvSpPr>
        <p:spPr/>
        <p:txBody>
          <a:bodyPr/>
          <a:lstStyle/>
          <a:p>
            <a:fld id="{6C7CE914-D5F2-4A30-BD8D-3768A3AD3CD7}" type="datetime1">
              <a:rPr lang="en-US" smtClean="0"/>
              <a:t>11/3/2025</a:t>
            </a:fld>
            <a:endParaRPr lang="en-US" dirty="0"/>
          </a:p>
        </p:txBody>
      </p:sp>
      <p:sp>
        <p:nvSpPr>
          <p:cNvPr id="6" name="Slide Number Placeholder 5">
            <a:extLst>
              <a:ext uri="{FF2B5EF4-FFF2-40B4-BE49-F238E27FC236}">
                <a16:creationId xmlns:a16="http://schemas.microsoft.com/office/drawing/2014/main" id="{5BCA50AC-1C6D-CFF2-AF29-B8E0B2ED6BF4}"/>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97990E2-83FC-4479-A9D7-4872A6E46ADD}" type="slidenum">
              <a:rPr lang="en-US" altLang="en-US" smtClean="0"/>
              <a:pPr>
                <a:defRPr/>
              </a:pPr>
              <a:t>2</a:t>
            </a:fld>
            <a:endParaRPr lang="en-US" altLang="en-US"/>
          </a:p>
        </p:txBody>
      </p:sp>
    </p:spTree>
    <p:extLst>
      <p:ext uri="{BB962C8B-B14F-4D97-AF65-F5344CB8AC3E}">
        <p14:creationId xmlns:p14="http://schemas.microsoft.com/office/powerpoint/2010/main" val="3510629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6449"/>
          </a:xfrm>
        </p:spPr>
        <p:txBody>
          <a:bodyPr>
            <a:normAutofit/>
          </a:bodyPr>
          <a:lstStyle/>
          <a:p>
            <a:pPr algn="ctr"/>
            <a:r>
              <a:rPr lang="en-US" sz="4000" b="1" dirty="0"/>
              <a:t>PROBLEM DEFINITION</a:t>
            </a:r>
          </a:p>
        </p:txBody>
      </p:sp>
      <p:sp>
        <p:nvSpPr>
          <p:cNvPr id="3" name="Content Placeholder 2"/>
          <p:cNvSpPr>
            <a:spLocks noGrp="1"/>
          </p:cNvSpPr>
          <p:nvPr>
            <p:ph idx="1"/>
          </p:nvPr>
        </p:nvSpPr>
        <p:spPr>
          <a:xfrm>
            <a:off x="838200" y="1268156"/>
            <a:ext cx="10875745" cy="4991611"/>
          </a:xfrm>
        </p:spPr>
        <p:txBody>
          <a:bodyPr>
            <a:normAutofit/>
          </a:bodyPr>
          <a:lstStyle/>
          <a:p>
            <a:pPr marL="151765" marR="185420" indent="0" algn="just">
              <a:lnSpc>
                <a:spcPct val="150000"/>
              </a:lnSpc>
              <a:spcBef>
                <a:spcPts val="0"/>
              </a:spcBef>
              <a:spcAft>
                <a:spcPts val="0"/>
              </a:spcAft>
              <a:buNone/>
            </a:pPr>
            <a:r>
              <a:rPr lang="en-US" sz="1800" dirty="0"/>
              <a:t>Real world datasets often contain missing values, duplicated entries, inconsistent formats, and unusual outliers which reduce data reliability and affect the performance of machine learning models. Manual or rule-based data cleaning techniques take more time and fail when processing large and high-dimensional datasets. Existing systems usually focus on limited tasks like only cleaning or only profiling but cannot perform all operations in a single automated pipeline. Due to this, organizations face difficulty in preparing clean data before analytics. Therefore, there is a need for a unified, automated, and intelligent system which performs data cleaning, anomaly detection and data profiling together to improve data quality and ensure trustworthy machine learning outcomes.</a:t>
            </a:r>
            <a:endParaRPr lang="en-US" sz="1800" spc="-5" dirty="0">
              <a:effectLst/>
              <a:latin typeface="Times New Roman" panose="02020603050405020304" pitchFamily="18" charset="0"/>
              <a:ea typeface="Times New Roman" panose="02020603050405020304" pitchFamily="18" charset="0"/>
            </a:endParaRPr>
          </a:p>
        </p:txBody>
      </p:sp>
      <p:sp>
        <p:nvSpPr>
          <p:cNvPr id="4" name="Date Placeholder 3"/>
          <p:cNvSpPr>
            <a:spLocks noGrp="1"/>
          </p:cNvSpPr>
          <p:nvPr>
            <p:ph type="dt" sz="half" idx="10"/>
          </p:nvPr>
        </p:nvSpPr>
        <p:spPr/>
        <p:txBody>
          <a:bodyPr/>
          <a:lstStyle/>
          <a:p>
            <a:fld id="{6C7CE914-D5F2-4A30-BD8D-3768A3AD3CD7}" type="datetime1">
              <a:rPr lang="en-US" smtClean="0"/>
              <a:t>11/3/2025</a:t>
            </a:fld>
            <a:endParaRPr lang="en-US" dirty="0"/>
          </a:p>
        </p:txBody>
      </p:sp>
      <p:sp>
        <p:nvSpPr>
          <p:cNvPr id="6" name="Slide Number Placeholder 5">
            <a:extLst>
              <a:ext uri="{FF2B5EF4-FFF2-40B4-BE49-F238E27FC236}">
                <a16:creationId xmlns:a16="http://schemas.microsoft.com/office/drawing/2014/main" id="{A953739F-090A-89BC-775B-273CD5BBF7A1}"/>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97990E2-83FC-4479-A9D7-4872A6E46ADD}" type="slidenum">
              <a:rPr lang="en-US" altLang="en-US" smtClean="0"/>
              <a:pPr>
                <a:defRPr/>
              </a:pPr>
              <a:t>3</a:t>
            </a:fld>
            <a:endParaRPr lang="en-US" altLang="en-US"/>
          </a:p>
        </p:txBody>
      </p:sp>
    </p:spTree>
    <p:extLst>
      <p:ext uri="{BB962C8B-B14F-4D97-AF65-F5344CB8AC3E}">
        <p14:creationId xmlns:p14="http://schemas.microsoft.com/office/powerpoint/2010/main" val="3277502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92672"/>
          </a:xfrm>
        </p:spPr>
        <p:txBody>
          <a:bodyPr>
            <a:normAutofit/>
          </a:bodyPr>
          <a:lstStyle/>
          <a:p>
            <a:pPr algn="ctr"/>
            <a:r>
              <a:rPr lang="en-US" sz="4000" b="1" dirty="0"/>
              <a:t>ABSTRACT</a:t>
            </a:r>
          </a:p>
        </p:txBody>
      </p:sp>
      <p:sp>
        <p:nvSpPr>
          <p:cNvPr id="3" name="Content Placeholder 2"/>
          <p:cNvSpPr>
            <a:spLocks noGrp="1"/>
          </p:cNvSpPr>
          <p:nvPr>
            <p:ph idx="1"/>
          </p:nvPr>
        </p:nvSpPr>
        <p:spPr>
          <a:xfrm>
            <a:off x="941231" y="1350962"/>
            <a:ext cx="10515600" cy="5005387"/>
          </a:xfrm>
        </p:spPr>
        <p:txBody>
          <a:bodyPr>
            <a:noAutofit/>
          </a:bodyPr>
          <a:lstStyle/>
          <a:p>
            <a:pPr marL="0" marR="100330" indent="0" algn="just">
              <a:lnSpc>
                <a:spcPct val="150000"/>
              </a:lnSpc>
              <a:spcBef>
                <a:spcPts val="0"/>
              </a:spcBef>
              <a:spcAft>
                <a:spcPts val="0"/>
              </a:spcAft>
              <a:buNone/>
            </a:pPr>
            <a:r>
              <a:rPr lang="en-US" sz="1800" dirty="0"/>
              <a:t>This project introduces Data Detox, a smart and visual automated framework for data cleaning and anomaly detection. The system integrates statistical (IQR) and machine learning based (Isolation Forest) methods to detect outliers, along with automated exploratory data analysis for profiling datasets. It allows users to clean, convert, visualize, and analyze data through an interactive </a:t>
            </a:r>
            <a:r>
              <a:rPr lang="en-US" sz="1800" dirty="0" err="1"/>
              <a:t>Streamlit</a:t>
            </a:r>
            <a:r>
              <a:rPr lang="en-US" sz="1800" dirty="0"/>
              <a:t> interface with minimal manual effort. Experimental evaluation shows that Data Detox significantly reduces preprocessing time, improves consistency, and enhances data quality for more accurate machine learning model performance. The proposed system provides a scalable and efficient solution for modern data quality management across various domains.</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2F8D465-B3B5-45E4-AF90-0D3587B0DA97}" type="datetime1">
              <a:rPr lang="en-US" smtClean="0"/>
              <a:t>11/3/2025</a:t>
            </a:fld>
            <a:endParaRPr lang="en-US"/>
          </a:p>
        </p:txBody>
      </p:sp>
      <p:sp>
        <p:nvSpPr>
          <p:cNvPr id="5" name="Slide Number Placeholder 5">
            <a:extLst>
              <a:ext uri="{FF2B5EF4-FFF2-40B4-BE49-F238E27FC236}">
                <a16:creationId xmlns:a16="http://schemas.microsoft.com/office/drawing/2014/main" id="{5D625D35-9728-BEE4-456E-9CE277E89BA5}"/>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97990E2-83FC-4479-A9D7-4872A6E46ADD}" type="slidenum">
              <a:rPr lang="en-US" altLang="en-US" smtClean="0"/>
              <a:pPr>
                <a:defRPr/>
              </a:pPr>
              <a:t>4</a:t>
            </a:fld>
            <a:endParaRPr lang="en-US" altLang="en-US"/>
          </a:p>
        </p:txBody>
      </p:sp>
    </p:spTree>
    <p:extLst>
      <p:ext uri="{BB962C8B-B14F-4D97-AF65-F5344CB8AC3E}">
        <p14:creationId xmlns:p14="http://schemas.microsoft.com/office/powerpoint/2010/main" val="1275314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1413"/>
          </a:xfrm>
        </p:spPr>
        <p:txBody>
          <a:bodyPr>
            <a:normAutofit/>
          </a:bodyPr>
          <a:lstStyle/>
          <a:p>
            <a:pPr algn="ctr"/>
            <a:r>
              <a:rPr lang="en-US" sz="4000" b="1" dirty="0"/>
              <a:t>EXISTING WORK</a:t>
            </a:r>
          </a:p>
        </p:txBody>
      </p:sp>
      <p:sp>
        <p:nvSpPr>
          <p:cNvPr id="3" name="Content Placeholder 2"/>
          <p:cNvSpPr>
            <a:spLocks noGrp="1"/>
          </p:cNvSpPr>
          <p:nvPr>
            <p:ph idx="1"/>
          </p:nvPr>
        </p:nvSpPr>
        <p:spPr>
          <a:xfrm>
            <a:off x="646981" y="1321501"/>
            <a:ext cx="11095839" cy="4855462"/>
          </a:xfrm>
        </p:spPr>
        <p:txBody>
          <a:bodyPr>
            <a:normAutofit/>
          </a:bodyPr>
          <a:lstStyle/>
          <a:p>
            <a:pPr marL="0" indent="0">
              <a:buNone/>
            </a:pPr>
            <a:r>
              <a:rPr lang="en-US" sz="1800" dirty="0"/>
              <a:t>Most of the existing data cleaning systems rely on manual, rule-based or single statistical approaches. These methods are time-consuming, require repeated human intervention, and do not scale well for large or high-dimensional datasets. Current tools generally focus on only one part of the process such as cleaning or profiling, but they do not provide integrated anomaly detection along with visualization on one platform. Because of this, data preprocessing becomes unreliable, inconsistent and lacks automation support for modern machine learning workflows.</a:t>
            </a:r>
          </a:p>
          <a:p>
            <a:pPr marL="0" indent="0">
              <a:buNone/>
            </a:pPr>
            <a:r>
              <a:rPr lang="en-US" sz="1800" b="1" dirty="0"/>
              <a:t>Limitations of Existing Systems</a:t>
            </a:r>
            <a:endParaRPr lang="en-US" sz="1800" dirty="0"/>
          </a:p>
          <a:p>
            <a:r>
              <a:rPr lang="en-US" sz="1800" dirty="0"/>
              <a:t>Limited Automation</a:t>
            </a:r>
          </a:p>
          <a:p>
            <a:r>
              <a:rPr lang="en-US" sz="1800" dirty="0"/>
              <a:t>No Integrated Anomaly Detection</a:t>
            </a:r>
          </a:p>
          <a:p>
            <a:r>
              <a:rPr lang="en-US" sz="1800" dirty="0"/>
              <a:t>Poor Big Data Scalability</a:t>
            </a:r>
          </a:p>
          <a:p>
            <a:r>
              <a:rPr lang="en-US" sz="1800" dirty="0"/>
              <a:t>High Manual Effort &amp; Time Consumption</a:t>
            </a:r>
          </a:p>
        </p:txBody>
      </p:sp>
      <p:sp>
        <p:nvSpPr>
          <p:cNvPr id="4" name="Date Placeholder 3"/>
          <p:cNvSpPr>
            <a:spLocks noGrp="1"/>
          </p:cNvSpPr>
          <p:nvPr>
            <p:ph type="dt" sz="half" idx="10"/>
          </p:nvPr>
        </p:nvSpPr>
        <p:spPr/>
        <p:txBody>
          <a:bodyPr/>
          <a:lstStyle/>
          <a:p>
            <a:fld id="{867F260A-DD09-44F7-B980-373C528FDC8A}" type="datetime1">
              <a:rPr lang="en-US" smtClean="0"/>
              <a:t>11/3/2025</a:t>
            </a:fld>
            <a:endParaRPr lang="en-US"/>
          </a:p>
        </p:txBody>
      </p:sp>
      <p:sp>
        <p:nvSpPr>
          <p:cNvPr id="8" name="Slide Number Placeholder 5">
            <a:extLst>
              <a:ext uri="{FF2B5EF4-FFF2-40B4-BE49-F238E27FC236}">
                <a16:creationId xmlns:a16="http://schemas.microsoft.com/office/drawing/2014/main" id="{3BD31FB6-159A-5965-ABB1-27909796F8CC}"/>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97990E2-83FC-4479-A9D7-4872A6E46ADD}" type="slidenum">
              <a:rPr lang="en-US" altLang="en-US" smtClean="0"/>
              <a:pPr>
                <a:defRPr/>
              </a:pPr>
              <a:t>5</a:t>
            </a:fld>
            <a:endParaRPr lang="en-US" altLang="en-US"/>
          </a:p>
        </p:txBody>
      </p:sp>
    </p:spTree>
    <p:extLst>
      <p:ext uri="{BB962C8B-B14F-4D97-AF65-F5344CB8AC3E}">
        <p14:creationId xmlns:p14="http://schemas.microsoft.com/office/powerpoint/2010/main" val="3385693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BD732-1E14-85E5-9F5B-BA5A56FDF999}"/>
            </a:ext>
          </a:extLst>
        </p:cNvPr>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E9F50481-AF35-0469-B64C-625A1307923F}"/>
              </a:ext>
            </a:extLst>
          </p:cNvPr>
          <p:cNvGraphicFramePr>
            <a:graphicFrameLocks noGrp="1"/>
          </p:cNvGraphicFramePr>
          <p:nvPr>
            <p:extLst>
              <p:ext uri="{D42A27DB-BD31-4B8C-83A1-F6EECF244321}">
                <p14:modId xmlns:p14="http://schemas.microsoft.com/office/powerpoint/2010/main" val="213794633"/>
              </p:ext>
            </p:extLst>
          </p:nvPr>
        </p:nvGraphicFramePr>
        <p:xfrm>
          <a:off x="967908" y="1248338"/>
          <a:ext cx="10256185" cy="4208287"/>
        </p:xfrm>
        <a:graphic>
          <a:graphicData uri="http://schemas.openxmlformats.org/drawingml/2006/table">
            <a:tbl>
              <a:tblPr firstRow="1" bandRow="1">
                <a:tableStyleId>{21E4AEA4-8DFA-4A89-87EB-49C32662AFE0}</a:tableStyleId>
              </a:tblPr>
              <a:tblGrid>
                <a:gridCol w="2006864">
                  <a:extLst>
                    <a:ext uri="{9D8B030D-6E8A-4147-A177-3AD203B41FA5}">
                      <a16:colId xmlns:a16="http://schemas.microsoft.com/office/drawing/2014/main" val="3272184017"/>
                    </a:ext>
                  </a:extLst>
                </a:gridCol>
                <a:gridCol w="1190000">
                  <a:extLst>
                    <a:ext uri="{9D8B030D-6E8A-4147-A177-3AD203B41FA5}">
                      <a16:colId xmlns:a16="http://schemas.microsoft.com/office/drawing/2014/main" val="1447563208"/>
                    </a:ext>
                  </a:extLst>
                </a:gridCol>
                <a:gridCol w="4093564">
                  <a:extLst>
                    <a:ext uri="{9D8B030D-6E8A-4147-A177-3AD203B41FA5}">
                      <a16:colId xmlns:a16="http://schemas.microsoft.com/office/drawing/2014/main" val="2789040752"/>
                    </a:ext>
                  </a:extLst>
                </a:gridCol>
                <a:gridCol w="2965757">
                  <a:extLst>
                    <a:ext uri="{9D8B030D-6E8A-4147-A177-3AD203B41FA5}">
                      <a16:colId xmlns:a16="http://schemas.microsoft.com/office/drawing/2014/main" val="3198598932"/>
                    </a:ext>
                  </a:extLst>
                </a:gridCol>
              </a:tblGrid>
              <a:tr h="433820">
                <a:tc>
                  <a:txBody>
                    <a:bodyPr/>
                    <a:lstStyle/>
                    <a:p>
                      <a:pPr>
                        <a:buNone/>
                      </a:pPr>
                      <a:r>
                        <a:rPr lang="en-IN" b="1"/>
                        <a:t>TITLE</a:t>
                      </a:r>
                      <a:endParaRPr lang="en-IN"/>
                    </a:p>
                  </a:txBody>
                  <a:tcPr anchor="ctr"/>
                </a:tc>
                <a:tc>
                  <a:txBody>
                    <a:bodyPr/>
                    <a:lstStyle/>
                    <a:p>
                      <a:pPr>
                        <a:buNone/>
                      </a:pPr>
                      <a:r>
                        <a:rPr lang="en-IN" b="1"/>
                        <a:t>AUTHORS</a:t>
                      </a:r>
                      <a:endParaRPr lang="en-IN"/>
                    </a:p>
                  </a:txBody>
                  <a:tcPr anchor="ctr"/>
                </a:tc>
                <a:tc>
                  <a:txBody>
                    <a:bodyPr/>
                    <a:lstStyle/>
                    <a:p>
                      <a:pPr>
                        <a:buNone/>
                      </a:pPr>
                      <a:r>
                        <a:rPr lang="en-IN" b="1"/>
                        <a:t>METHODOLOGY</a:t>
                      </a:r>
                      <a:endParaRPr lang="en-IN"/>
                    </a:p>
                  </a:txBody>
                  <a:tcPr anchor="ctr"/>
                </a:tc>
                <a:tc>
                  <a:txBody>
                    <a:bodyPr/>
                    <a:lstStyle/>
                    <a:p>
                      <a:pPr>
                        <a:buNone/>
                      </a:pPr>
                      <a:r>
                        <a:rPr lang="en-IN" b="1"/>
                        <a:t>LIMITATIONS</a:t>
                      </a:r>
                      <a:endParaRPr lang="en-IN"/>
                    </a:p>
                  </a:txBody>
                  <a:tcPr anchor="ctr"/>
                </a:tc>
                <a:extLst>
                  <a:ext uri="{0D108BD9-81ED-4DB2-BD59-A6C34878D82A}">
                    <a16:rowId xmlns:a16="http://schemas.microsoft.com/office/drawing/2014/main" val="1704163659"/>
                  </a:ext>
                </a:extLst>
              </a:tr>
              <a:tr h="2037107">
                <a:tc>
                  <a:txBody>
                    <a:bodyPr/>
                    <a:lstStyle/>
                    <a:p>
                      <a:pPr>
                        <a:buNone/>
                      </a:pPr>
                      <a:r>
                        <a:rPr lang="en-US"/>
                        <a:t>Data Cleaning: Problems and Current Approaches (2000)</a:t>
                      </a:r>
                    </a:p>
                  </a:txBody>
                  <a:tcPr anchor="ctr"/>
                </a:tc>
                <a:tc>
                  <a:txBody>
                    <a:bodyPr/>
                    <a:lstStyle/>
                    <a:p>
                      <a:pPr>
                        <a:buNone/>
                      </a:pPr>
                      <a:r>
                        <a:rPr lang="en-IN" dirty="0"/>
                        <a:t>Erhard Rahm &amp; Hong Hai Do</a:t>
                      </a:r>
                    </a:p>
                  </a:txBody>
                  <a:tcPr anchor="ctr"/>
                </a:tc>
                <a:tc>
                  <a:txBody>
                    <a:bodyPr/>
                    <a:lstStyle/>
                    <a:p>
                      <a:pPr algn="l">
                        <a:buNone/>
                      </a:pPr>
                      <a:r>
                        <a:rPr lang="en-US" dirty="0"/>
                        <a:t>Introduced core data cleaning methods like duplicate detection, format correction, schema matching &amp; rule-based cleaning. Standardized early manual methods used for ensuring dataset quality.</a:t>
                      </a:r>
                    </a:p>
                  </a:txBody>
                  <a:tcPr anchor="ctr"/>
                </a:tc>
                <a:tc>
                  <a:txBody>
                    <a:bodyPr/>
                    <a:lstStyle/>
                    <a:p>
                      <a:pPr>
                        <a:buNone/>
                      </a:pPr>
                      <a:r>
                        <a:rPr lang="en-US"/>
                        <a:t>Manual rule-based approaches cannot handle large / heterogeneous datasets and do not automate anomaly discovery.</a:t>
                      </a:r>
                    </a:p>
                  </a:txBody>
                  <a:tcPr anchor="ctr"/>
                </a:tc>
                <a:extLst>
                  <a:ext uri="{0D108BD9-81ED-4DB2-BD59-A6C34878D82A}">
                    <a16:rowId xmlns:a16="http://schemas.microsoft.com/office/drawing/2014/main" val="722258560"/>
                  </a:ext>
                </a:extLst>
              </a:tr>
              <a:tr h="321274">
                <a:tc>
                  <a:txBody>
                    <a:bodyPr/>
                    <a:lstStyle/>
                    <a:p>
                      <a:pPr>
                        <a:buNone/>
                      </a:pPr>
                      <a:r>
                        <a:rPr lang="en-US"/>
                        <a:t>Anomaly Detection: A Survey (2009)</a:t>
                      </a:r>
                    </a:p>
                  </a:txBody>
                  <a:tcPr anchor="ctr"/>
                </a:tc>
                <a:tc>
                  <a:txBody>
                    <a:bodyPr/>
                    <a:lstStyle/>
                    <a:p>
                      <a:pPr>
                        <a:buNone/>
                      </a:pPr>
                      <a:r>
                        <a:rPr lang="en-IN"/>
                        <a:t>Varun Chandola et al.</a:t>
                      </a:r>
                    </a:p>
                  </a:txBody>
                  <a:tcPr anchor="ctr"/>
                </a:tc>
                <a:tc>
                  <a:txBody>
                    <a:bodyPr/>
                    <a:lstStyle/>
                    <a:p>
                      <a:pPr>
                        <a:buNone/>
                      </a:pPr>
                      <a:r>
                        <a:rPr lang="en-US"/>
                        <a:t>Survey compares statistical, supervised, semi-supervised &amp; clustering based anomaly detection techniques used across multiple application domains.</a:t>
                      </a:r>
                    </a:p>
                  </a:txBody>
                  <a:tcPr anchor="ctr"/>
                </a:tc>
                <a:tc>
                  <a:txBody>
                    <a:bodyPr/>
                    <a:lstStyle/>
                    <a:p>
                      <a:pPr>
                        <a:buNone/>
                      </a:pPr>
                      <a:r>
                        <a:rPr lang="en-US" dirty="0"/>
                        <a:t>No unified workflow integration and anomaly detection not directly connected to cleaning automation for end-to-end usage.</a:t>
                      </a:r>
                    </a:p>
                  </a:txBody>
                  <a:tcPr anchor="ctr"/>
                </a:tc>
                <a:extLst>
                  <a:ext uri="{0D108BD9-81ED-4DB2-BD59-A6C34878D82A}">
                    <a16:rowId xmlns:a16="http://schemas.microsoft.com/office/drawing/2014/main" val="2027637089"/>
                  </a:ext>
                </a:extLst>
              </a:tr>
            </a:tbl>
          </a:graphicData>
        </a:graphic>
      </p:graphicFrame>
      <p:sp>
        <p:nvSpPr>
          <p:cNvPr id="2" name="Title 1">
            <a:extLst>
              <a:ext uri="{FF2B5EF4-FFF2-40B4-BE49-F238E27FC236}">
                <a16:creationId xmlns:a16="http://schemas.microsoft.com/office/drawing/2014/main" id="{CB8CDF87-0EB2-20E9-5393-BE9F839C5FFD}"/>
              </a:ext>
            </a:extLst>
          </p:cNvPr>
          <p:cNvSpPr>
            <a:spLocks noGrp="1"/>
          </p:cNvSpPr>
          <p:nvPr>
            <p:ph type="title"/>
          </p:nvPr>
        </p:nvSpPr>
        <p:spPr>
          <a:xfrm>
            <a:off x="838200" y="365125"/>
            <a:ext cx="10515600" cy="806449"/>
          </a:xfrm>
        </p:spPr>
        <p:txBody>
          <a:bodyPr>
            <a:normAutofit/>
          </a:bodyPr>
          <a:lstStyle/>
          <a:p>
            <a:pPr algn="ctr"/>
            <a:r>
              <a:rPr lang="en-US" sz="4000" b="1" dirty="0"/>
              <a:t>LITERATURE SURVEY</a:t>
            </a:r>
          </a:p>
        </p:txBody>
      </p:sp>
      <p:sp>
        <p:nvSpPr>
          <p:cNvPr id="4" name="Date Placeholder 3">
            <a:extLst>
              <a:ext uri="{FF2B5EF4-FFF2-40B4-BE49-F238E27FC236}">
                <a16:creationId xmlns:a16="http://schemas.microsoft.com/office/drawing/2014/main" id="{02A4CCAA-E933-AF67-E34F-E3DF51407453}"/>
              </a:ext>
            </a:extLst>
          </p:cNvPr>
          <p:cNvSpPr>
            <a:spLocks noGrp="1"/>
          </p:cNvSpPr>
          <p:nvPr>
            <p:ph type="dt" sz="half" idx="10"/>
          </p:nvPr>
        </p:nvSpPr>
        <p:spPr/>
        <p:txBody>
          <a:bodyPr/>
          <a:lstStyle/>
          <a:p>
            <a:fld id="{6C7CE914-D5F2-4A30-BD8D-3768A3AD3CD7}" type="datetime1">
              <a:rPr lang="en-US" smtClean="0"/>
              <a:t>11/3/2025</a:t>
            </a:fld>
            <a:endParaRPr lang="en-US"/>
          </a:p>
        </p:txBody>
      </p:sp>
      <p:sp>
        <p:nvSpPr>
          <p:cNvPr id="3" name="Slide Number Placeholder 5">
            <a:extLst>
              <a:ext uri="{FF2B5EF4-FFF2-40B4-BE49-F238E27FC236}">
                <a16:creationId xmlns:a16="http://schemas.microsoft.com/office/drawing/2014/main" id="{2D1DF336-5480-2673-62C8-80204777301F}"/>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97990E2-83FC-4479-A9D7-4872A6E46ADD}" type="slidenum">
              <a:rPr lang="en-US" altLang="en-US" smtClean="0"/>
              <a:pPr>
                <a:defRPr/>
              </a:pPr>
              <a:t>6</a:t>
            </a:fld>
            <a:endParaRPr lang="en-US" altLang="en-US"/>
          </a:p>
        </p:txBody>
      </p:sp>
    </p:spTree>
    <p:extLst>
      <p:ext uri="{BB962C8B-B14F-4D97-AF65-F5344CB8AC3E}">
        <p14:creationId xmlns:p14="http://schemas.microsoft.com/office/powerpoint/2010/main" val="2344906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6E1F1-E535-0C67-56F3-58942AC613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6210B5-DE18-AB51-45A6-E3BDD19C4641}"/>
              </a:ext>
            </a:extLst>
          </p:cNvPr>
          <p:cNvSpPr>
            <a:spLocks noGrp="1"/>
          </p:cNvSpPr>
          <p:nvPr>
            <p:ph type="title"/>
          </p:nvPr>
        </p:nvSpPr>
        <p:spPr>
          <a:xfrm>
            <a:off x="838200" y="365125"/>
            <a:ext cx="10515600" cy="806449"/>
          </a:xfrm>
        </p:spPr>
        <p:txBody>
          <a:bodyPr>
            <a:normAutofit/>
          </a:bodyPr>
          <a:lstStyle/>
          <a:p>
            <a:pPr algn="ctr"/>
            <a:r>
              <a:rPr lang="en-US" sz="4000" b="1" dirty="0"/>
              <a:t>LITERATURE SURVEY</a:t>
            </a:r>
          </a:p>
        </p:txBody>
      </p:sp>
      <p:sp>
        <p:nvSpPr>
          <p:cNvPr id="4" name="Date Placeholder 3">
            <a:extLst>
              <a:ext uri="{FF2B5EF4-FFF2-40B4-BE49-F238E27FC236}">
                <a16:creationId xmlns:a16="http://schemas.microsoft.com/office/drawing/2014/main" id="{25E296F1-DC33-BD59-89AC-95EE4EFA52C6}"/>
              </a:ext>
            </a:extLst>
          </p:cNvPr>
          <p:cNvSpPr>
            <a:spLocks noGrp="1"/>
          </p:cNvSpPr>
          <p:nvPr>
            <p:ph type="dt" sz="half" idx="10"/>
          </p:nvPr>
        </p:nvSpPr>
        <p:spPr/>
        <p:txBody>
          <a:bodyPr/>
          <a:lstStyle/>
          <a:p>
            <a:fld id="{6C7CE914-D5F2-4A30-BD8D-3768A3AD3CD7}" type="datetime1">
              <a:rPr lang="en-US" smtClean="0"/>
              <a:t>11/3/2025</a:t>
            </a:fld>
            <a:endParaRPr lang="en-US"/>
          </a:p>
        </p:txBody>
      </p:sp>
      <p:graphicFrame>
        <p:nvGraphicFramePr>
          <p:cNvPr id="9" name="Table 8">
            <a:extLst>
              <a:ext uri="{FF2B5EF4-FFF2-40B4-BE49-F238E27FC236}">
                <a16:creationId xmlns:a16="http://schemas.microsoft.com/office/drawing/2014/main" id="{1E83D6E5-0175-92BB-8007-7F1363BD8125}"/>
              </a:ext>
            </a:extLst>
          </p:cNvPr>
          <p:cNvGraphicFramePr>
            <a:graphicFrameLocks noGrp="1"/>
          </p:cNvGraphicFramePr>
          <p:nvPr>
            <p:extLst>
              <p:ext uri="{D42A27DB-BD31-4B8C-83A1-F6EECF244321}">
                <p14:modId xmlns:p14="http://schemas.microsoft.com/office/powerpoint/2010/main" val="684415589"/>
              </p:ext>
            </p:extLst>
          </p:nvPr>
        </p:nvGraphicFramePr>
        <p:xfrm>
          <a:off x="1097615" y="1248338"/>
          <a:ext cx="10256185" cy="3659647"/>
        </p:xfrm>
        <a:graphic>
          <a:graphicData uri="http://schemas.openxmlformats.org/drawingml/2006/table">
            <a:tbl>
              <a:tblPr firstRow="1" bandRow="1">
                <a:tableStyleId>{21E4AEA4-8DFA-4A89-87EB-49C32662AFE0}</a:tableStyleId>
              </a:tblPr>
              <a:tblGrid>
                <a:gridCol w="2006864">
                  <a:extLst>
                    <a:ext uri="{9D8B030D-6E8A-4147-A177-3AD203B41FA5}">
                      <a16:colId xmlns:a16="http://schemas.microsoft.com/office/drawing/2014/main" val="3272184017"/>
                    </a:ext>
                  </a:extLst>
                </a:gridCol>
                <a:gridCol w="1190000">
                  <a:extLst>
                    <a:ext uri="{9D8B030D-6E8A-4147-A177-3AD203B41FA5}">
                      <a16:colId xmlns:a16="http://schemas.microsoft.com/office/drawing/2014/main" val="1447563208"/>
                    </a:ext>
                  </a:extLst>
                </a:gridCol>
                <a:gridCol w="3781117">
                  <a:extLst>
                    <a:ext uri="{9D8B030D-6E8A-4147-A177-3AD203B41FA5}">
                      <a16:colId xmlns:a16="http://schemas.microsoft.com/office/drawing/2014/main" val="2789040752"/>
                    </a:ext>
                  </a:extLst>
                </a:gridCol>
                <a:gridCol w="3278204">
                  <a:extLst>
                    <a:ext uri="{9D8B030D-6E8A-4147-A177-3AD203B41FA5}">
                      <a16:colId xmlns:a16="http://schemas.microsoft.com/office/drawing/2014/main" val="3198598932"/>
                    </a:ext>
                  </a:extLst>
                </a:gridCol>
              </a:tblGrid>
              <a:tr h="433820">
                <a:tc>
                  <a:txBody>
                    <a:bodyPr/>
                    <a:lstStyle/>
                    <a:p>
                      <a:pPr>
                        <a:buNone/>
                      </a:pPr>
                      <a:r>
                        <a:rPr lang="en-IN" b="1"/>
                        <a:t>TITLE</a:t>
                      </a:r>
                      <a:endParaRPr lang="en-IN"/>
                    </a:p>
                  </a:txBody>
                  <a:tcPr anchor="ctr"/>
                </a:tc>
                <a:tc>
                  <a:txBody>
                    <a:bodyPr/>
                    <a:lstStyle/>
                    <a:p>
                      <a:pPr>
                        <a:buNone/>
                      </a:pPr>
                      <a:r>
                        <a:rPr lang="en-IN" b="1"/>
                        <a:t>AUTHORS</a:t>
                      </a:r>
                      <a:endParaRPr lang="en-IN"/>
                    </a:p>
                  </a:txBody>
                  <a:tcPr anchor="ctr"/>
                </a:tc>
                <a:tc>
                  <a:txBody>
                    <a:bodyPr/>
                    <a:lstStyle/>
                    <a:p>
                      <a:pPr>
                        <a:buNone/>
                      </a:pPr>
                      <a:r>
                        <a:rPr lang="en-IN" b="1"/>
                        <a:t>METHODOLOGY</a:t>
                      </a:r>
                      <a:endParaRPr lang="en-IN"/>
                    </a:p>
                  </a:txBody>
                  <a:tcPr anchor="ctr"/>
                </a:tc>
                <a:tc>
                  <a:txBody>
                    <a:bodyPr/>
                    <a:lstStyle/>
                    <a:p>
                      <a:pPr>
                        <a:buNone/>
                      </a:pPr>
                      <a:r>
                        <a:rPr lang="en-IN" b="1"/>
                        <a:t>LIMITATIONS</a:t>
                      </a:r>
                      <a:endParaRPr lang="en-IN"/>
                    </a:p>
                  </a:txBody>
                  <a:tcPr anchor="ctr"/>
                </a:tc>
                <a:extLst>
                  <a:ext uri="{0D108BD9-81ED-4DB2-BD59-A6C34878D82A}">
                    <a16:rowId xmlns:a16="http://schemas.microsoft.com/office/drawing/2014/main" val="1704163659"/>
                  </a:ext>
                </a:extLst>
              </a:tr>
              <a:tr h="2037107">
                <a:tc>
                  <a:txBody>
                    <a:bodyPr/>
                    <a:lstStyle/>
                    <a:p>
                      <a:pPr>
                        <a:buNone/>
                      </a:pPr>
                      <a:r>
                        <a:rPr lang="en-US"/>
                        <a:t>Outlier Detection for High Dimensional Data</a:t>
                      </a:r>
                    </a:p>
                  </a:txBody>
                  <a:tcPr anchor="ctr"/>
                </a:tc>
                <a:tc>
                  <a:txBody>
                    <a:bodyPr/>
                    <a:lstStyle/>
                    <a:p>
                      <a:pPr>
                        <a:buNone/>
                      </a:pPr>
                      <a:r>
                        <a:rPr lang="en-IN"/>
                        <a:t>Markus M. Breunig et al. (LOF)</a:t>
                      </a:r>
                    </a:p>
                  </a:txBody>
                  <a:tcPr anchor="ctr"/>
                </a:tc>
                <a:tc>
                  <a:txBody>
                    <a:bodyPr/>
                    <a:lstStyle/>
                    <a:p>
                      <a:pPr>
                        <a:buNone/>
                      </a:pPr>
                      <a:r>
                        <a:rPr lang="en-US" dirty="0"/>
                        <a:t>Proposed Local Outlier Factor based density deviation method to detect abnormal data points by comparing localized neighborhood density patterns.</a:t>
                      </a:r>
                    </a:p>
                  </a:txBody>
                  <a:tcPr anchor="ctr"/>
                </a:tc>
                <a:tc>
                  <a:txBody>
                    <a:bodyPr/>
                    <a:lstStyle/>
                    <a:p>
                      <a:pPr>
                        <a:buNone/>
                      </a:pPr>
                      <a:r>
                        <a:rPr lang="en-US"/>
                        <a:t>Computationally expensive for large datasets and not suitable for real-time cleaning pipelines.</a:t>
                      </a:r>
                    </a:p>
                  </a:txBody>
                  <a:tcPr anchor="ctr"/>
                </a:tc>
                <a:extLst>
                  <a:ext uri="{0D108BD9-81ED-4DB2-BD59-A6C34878D82A}">
                    <a16:rowId xmlns:a16="http://schemas.microsoft.com/office/drawing/2014/main" val="722258560"/>
                  </a:ext>
                </a:extLst>
              </a:tr>
              <a:tr h="321274">
                <a:tc>
                  <a:txBody>
                    <a:bodyPr/>
                    <a:lstStyle/>
                    <a:p>
                      <a:pPr>
                        <a:buNone/>
                      </a:pPr>
                      <a:r>
                        <a:rPr lang="en-IN"/>
                        <a:t>Isolation Forest (2008)</a:t>
                      </a:r>
                    </a:p>
                  </a:txBody>
                  <a:tcPr anchor="ctr"/>
                </a:tc>
                <a:tc>
                  <a:txBody>
                    <a:bodyPr/>
                    <a:lstStyle/>
                    <a:p>
                      <a:pPr>
                        <a:buNone/>
                      </a:pPr>
                      <a:r>
                        <a:rPr lang="da-DK"/>
                        <a:t>Fei Tony Liu et al.</a:t>
                      </a:r>
                    </a:p>
                  </a:txBody>
                  <a:tcPr anchor="ctr"/>
                </a:tc>
                <a:tc>
                  <a:txBody>
                    <a:bodyPr/>
                    <a:lstStyle/>
                    <a:p>
                      <a:pPr>
                        <a:buNone/>
                      </a:pPr>
                      <a:r>
                        <a:rPr lang="en-US"/>
                        <a:t>Introduced anomaly detection based on random isolation of data points where anomalies need fewer splits, improving speed and accuracy.</a:t>
                      </a:r>
                    </a:p>
                  </a:txBody>
                  <a:tcPr anchor="ctr"/>
                </a:tc>
                <a:tc>
                  <a:txBody>
                    <a:bodyPr/>
                    <a:lstStyle/>
                    <a:p>
                      <a:pPr>
                        <a:buNone/>
                      </a:pPr>
                      <a:r>
                        <a:rPr lang="en-US" dirty="0"/>
                        <a:t>Detects anomalies only but does not perform automatic correction or cleaning integration.</a:t>
                      </a:r>
                    </a:p>
                  </a:txBody>
                  <a:tcPr anchor="ctr"/>
                </a:tc>
                <a:extLst>
                  <a:ext uri="{0D108BD9-81ED-4DB2-BD59-A6C34878D82A}">
                    <a16:rowId xmlns:a16="http://schemas.microsoft.com/office/drawing/2014/main" val="2027637089"/>
                  </a:ext>
                </a:extLst>
              </a:tr>
            </a:tbl>
          </a:graphicData>
        </a:graphic>
      </p:graphicFrame>
      <p:sp>
        <p:nvSpPr>
          <p:cNvPr id="3" name="Slide Number Placeholder 5">
            <a:extLst>
              <a:ext uri="{FF2B5EF4-FFF2-40B4-BE49-F238E27FC236}">
                <a16:creationId xmlns:a16="http://schemas.microsoft.com/office/drawing/2014/main" id="{ABB4E6B6-D4CA-5364-C02B-BDF2A8EA8845}"/>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97990E2-83FC-4479-A9D7-4872A6E46ADD}" type="slidenum">
              <a:rPr lang="en-US" altLang="en-US" smtClean="0"/>
              <a:pPr>
                <a:defRPr/>
              </a:pPr>
              <a:t>7</a:t>
            </a:fld>
            <a:endParaRPr lang="en-US" altLang="en-US"/>
          </a:p>
        </p:txBody>
      </p:sp>
    </p:spTree>
    <p:extLst>
      <p:ext uri="{BB962C8B-B14F-4D97-AF65-F5344CB8AC3E}">
        <p14:creationId xmlns:p14="http://schemas.microsoft.com/office/powerpoint/2010/main" val="2465215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A9265-FE7D-88B2-5C2C-4690C78FA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D7438-0D57-A2B5-1BFC-E85BA11DFD66}"/>
              </a:ext>
            </a:extLst>
          </p:cNvPr>
          <p:cNvSpPr>
            <a:spLocks noGrp="1"/>
          </p:cNvSpPr>
          <p:nvPr>
            <p:ph type="title"/>
          </p:nvPr>
        </p:nvSpPr>
        <p:spPr>
          <a:xfrm>
            <a:off x="838200" y="365125"/>
            <a:ext cx="10515600" cy="806449"/>
          </a:xfrm>
        </p:spPr>
        <p:txBody>
          <a:bodyPr>
            <a:normAutofit/>
          </a:bodyPr>
          <a:lstStyle/>
          <a:p>
            <a:pPr algn="ctr"/>
            <a:r>
              <a:rPr lang="en-US" sz="4000" b="1" dirty="0"/>
              <a:t>LITERATURE SURVEY</a:t>
            </a:r>
          </a:p>
        </p:txBody>
      </p:sp>
      <p:sp>
        <p:nvSpPr>
          <p:cNvPr id="4" name="Date Placeholder 3">
            <a:extLst>
              <a:ext uri="{FF2B5EF4-FFF2-40B4-BE49-F238E27FC236}">
                <a16:creationId xmlns:a16="http://schemas.microsoft.com/office/drawing/2014/main" id="{3DB3E64F-89EE-5CE7-B493-290A50AEA56E}"/>
              </a:ext>
            </a:extLst>
          </p:cNvPr>
          <p:cNvSpPr>
            <a:spLocks noGrp="1"/>
          </p:cNvSpPr>
          <p:nvPr>
            <p:ph type="dt" sz="half" idx="10"/>
          </p:nvPr>
        </p:nvSpPr>
        <p:spPr/>
        <p:txBody>
          <a:bodyPr/>
          <a:lstStyle/>
          <a:p>
            <a:fld id="{6C7CE914-D5F2-4A30-BD8D-3768A3AD3CD7}" type="datetime1">
              <a:rPr lang="en-US" smtClean="0"/>
              <a:t>11/3/2025</a:t>
            </a:fld>
            <a:endParaRPr lang="en-US"/>
          </a:p>
        </p:txBody>
      </p:sp>
      <p:graphicFrame>
        <p:nvGraphicFramePr>
          <p:cNvPr id="9" name="Table 8">
            <a:extLst>
              <a:ext uri="{FF2B5EF4-FFF2-40B4-BE49-F238E27FC236}">
                <a16:creationId xmlns:a16="http://schemas.microsoft.com/office/drawing/2014/main" id="{607478B6-C274-F0AE-FE77-32F6008E7E98}"/>
              </a:ext>
            </a:extLst>
          </p:cNvPr>
          <p:cNvGraphicFramePr>
            <a:graphicFrameLocks noGrp="1"/>
          </p:cNvGraphicFramePr>
          <p:nvPr>
            <p:extLst>
              <p:ext uri="{D42A27DB-BD31-4B8C-83A1-F6EECF244321}">
                <p14:modId xmlns:p14="http://schemas.microsoft.com/office/powerpoint/2010/main" val="3710889481"/>
              </p:ext>
            </p:extLst>
          </p:nvPr>
        </p:nvGraphicFramePr>
        <p:xfrm>
          <a:off x="1097615" y="1248338"/>
          <a:ext cx="10256185" cy="3659647"/>
        </p:xfrm>
        <a:graphic>
          <a:graphicData uri="http://schemas.openxmlformats.org/drawingml/2006/table">
            <a:tbl>
              <a:tblPr firstRow="1" bandRow="1">
                <a:tableStyleId>{21E4AEA4-8DFA-4A89-87EB-49C32662AFE0}</a:tableStyleId>
              </a:tblPr>
              <a:tblGrid>
                <a:gridCol w="2006864">
                  <a:extLst>
                    <a:ext uri="{9D8B030D-6E8A-4147-A177-3AD203B41FA5}">
                      <a16:colId xmlns:a16="http://schemas.microsoft.com/office/drawing/2014/main" val="3272184017"/>
                    </a:ext>
                  </a:extLst>
                </a:gridCol>
                <a:gridCol w="1190000">
                  <a:extLst>
                    <a:ext uri="{9D8B030D-6E8A-4147-A177-3AD203B41FA5}">
                      <a16:colId xmlns:a16="http://schemas.microsoft.com/office/drawing/2014/main" val="1447563208"/>
                    </a:ext>
                  </a:extLst>
                </a:gridCol>
                <a:gridCol w="4093564">
                  <a:extLst>
                    <a:ext uri="{9D8B030D-6E8A-4147-A177-3AD203B41FA5}">
                      <a16:colId xmlns:a16="http://schemas.microsoft.com/office/drawing/2014/main" val="2789040752"/>
                    </a:ext>
                  </a:extLst>
                </a:gridCol>
                <a:gridCol w="2965757">
                  <a:extLst>
                    <a:ext uri="{9D8B030D-6E8A-4147-A177-3AD203B41FA5}">
                      <a16:colId xmlns:a16="http://schemas.microsoft.com/office/drawing/2014/main" val="3198598932"/>
                    </a:ext>
                  </a:extLst>
                </a:gridCol>
              </a:tblGrid>
              <a:tr h="433820">
                <a:tc>
                  <a:txBody>
                    <a:bodyPr/>
                    <a:lstStyle/>
                    <a:p>
                      <a:pPr>
                        <a:buNone/>
                      </a:pPr>
                      <a:r>
                        <a:rPr lang="en-IN" b="1"/>
                        <a:t>TITLE</a:t>
                      </a:r>
                      <a:endParaRPr lang="en-IN"/>
                    </a:p>
                  </a:txBody>
                  <a:tcPr anchor="ctr"/>
                </a:tc>
                <a:tc>
                  <a:txBody>
                    <a:bodyPr/>
                    <a:lstStyle/>
                    <a:p>
                      <a:pPr>
                        <a:buNone/>
                      </a:pPr>
                      <a:r>
                        <a:rPr lang="en-IN" b="1"/>
                        <a:t>AUTHORS</a:t>
                      </a:r>
                      <a:endParaRPr lang="en-IN"/>
                    </a:p>
                  </a:txBody>
                  <a:tcPr anchor="ctr"/>
                </a:tc>
                <a:tc>
                  <a:txBody>
                    <a:bodyPr/>
                    <a:lstStyle/>
                    <a:p>
                      <a:pPr>
                        <a:buNone/>
                      </a:pPr>
                      <a:r>
                        <a:rPr lang="en-IN" b="1"/>
                        <a:t>METHODOLOGY</a:t>
                      </a:r>
                      <a:endParaRPr lang="en-IN"/>
                    </a:p>
                  </a:txBody>
                  <a:tcPr anchor="ctr"/>
                </a:tc>
                <a:tc>
                  <a:txBody>
                    <a:bodyPr/>
                    <a:lstStyle/>
                    <a:p>
                      <a:pPr>
                        <a:buNone/>
                      </a:pPr>
                      <a:r>
                        <a:rPr lang="en-IN" b="1"/>
                        <a:t>LIMITATIONS</a:t>
                      </a:r>
                      <a:endParaRPr lang="en-IN"/>
                    </a:p>
                  </a:txBody>
                  <a:tcPr anchor="ctr"/>
                </a:tc>
                <a:extLst>
                  <a:ext uri="{0D108BD9-81ED-4DB2-BD59-A6C34878D82A}">
                    <a16:rowId xmlns:a16="http://schemas.microsoft.com/office/drawing/2014/main" val="1704163659"/>
                  </a:ext>
                </a:extLst>
              </a:tr>
              <a:tr h="2037107">
                <a:tc>
                  <a:txBody>
                    <a:bodyPr/>
                    <a:lstStyle/>
                    <a:p>
                      <a:pPr>
                        <a:buNone/>
                      </a:pPr>
                      <a:r>
                        <a:rPr lang="en-US"/>
                        <a:t>OpenRefine Data Cleaning Platform (2012)</a:t>
                      </a:r>
                    </a:p>
                  </a:txBody>
                  <a:tcPr anchor="ctr"/>
                </a:tc>
                <a:tc>
                  <a:txBody>
                    <a:bodyPr/>
                    <a:lstStyle/>
                    <a:p>
                      <a:pPr>
                        <a:buNone/>
                      </a:pPr>
                      <a:r>
                        <a:rPr lang="en-IN"/>
                        <a:t>Google Research</a:t>
                      </a:r>
                    </a:p>
                  </a:txBody>
                  <a:tcPr anchor="ctr"/>
                </a:tc>
                <a:tc>
                  <a:txBody>
                    <a:bodyPr/>
                    <a:lstStyle/>
                    <a:p>
                      <a:pPr>
                        <a:buNone/>
                      </a:pPr>
                      <a:r>
                        <a:rPr lang="en-US"/>
                        <a:t>Provides clustering, transformation, data normalization and duplicate removal through UI based cleaning operations.</a:t>
                      </a:r>
                    </a:p>
                  </a:txBody>
                  <a:tcPr anchor="ctr"/>
                </a:tc>
                <a:tc>
                  <a:txBody>
                    <a:bodyPr/>
                    <a:lstStyle/>
                    <a:p>
                      <a:pPr>
                        <a:buNone/>
                      </a:pPr>
                      <a:r>
                        <a:rPr lang="en-US"/>
                        <a:t>Manual intervention required, not automated and not optimized for ML anomaly detection pipelines.</a:t>
                      </a:r>
                    </a:p>
                  </a:txBody>
                  <a:tcPr anchor="ctr"/>
                </a:tc>
                <a:extLst>
                  <a:ext uri="{0D108BD9-81ED-4DB2-BD59-A6C34878D82A}">
                    <a16:rowId xmlns:a16="http://schemas.microsoft.com/office/drawing/2014/main" val="722258560"/>
                  </a:ext>
                </a:extLst>
              </a:tr>
              <a:tr h="321274">
                <a:tc>
                  <a:txBody>
                    <a:bodyPr/>
                    <a:lstStyle/>
                    <a:p>
                      <a:pPr>
                        <a:buNone/>
                      </a:pPr>
                      <a:r>
                        <a:rPr lang="en-IN"/>
                        <a:t>YData Profiling (2020)</a:t>
                      </a:r>
                    </a:p>
                  </a:txBody>
                  <a:tcPr anchor="ctr"/>
                </a:tc>
                <a:tc>
                  <a:txBody>
                    <a:bodyPr/>
                    <a:lstStyle/>
                    <a:p>
                      <a:pPr>
                        <a:buNone/>
                      </a:pPr>
                      <a:r>
                        <a:rPr lang="en-IN"/>
                        <a:t>YData.ai Team</a:t>
                      </a:r>
                    </a:p>
                  </a:txBody>
                  <a:tcPr anchor="ctr"/>
                </a:tc>
                <a:tc>
                  <a:txBody>
                    <a:bodyPr/>
                    <a:lstStyle/>
                    <a:p>
                      <a:pPr>
                        <a:buNone/>
                      </a:pPr>
                      <a:r>
                        <a:rPr lang="en-US"/>
                        <a:t>Generates automated EDA summaries including correlation, distributions, type inference and missing values for dataset profiling.</a:t>
                      </a:r>
                    </a:p>
                  </a:txBody>
                  <a:tcPr anchor="ctr"/>
                </a:tc>
                <a:tc>
                  <a:txBody>
                    <a:bodyPr/>
                    <a:lstStyle/>
                    <a:p>
                      <a:pPr>
                        <a:buNone/>
                      </a:pPr>
                      <a:r>
                        <a:rPr lang="en-US" dirty="0"/>
                        <a:t>Profiling only. Does not apply automatic cleaning and does not remove or fix anomalies.</a:t>
                      </a:r>
                    </a:p>
                  </a:txBody>
                  <a:tcPr anchor="ctr"/>
                </a:tc>
                <a:extLst>
                  <a:ext uri="{0D108BD9-81ED-4DB2-BD59-A6C34878D82A}">
                    <a16:rowId xmlns:a16="http://schemas.microsoft.com/office/drawing/2014/main" val="2027637089"/>
                  </a:ext>
                </a:extLst>
              </a:tr>
            </a:tbl>
          </a:graphicData>
        </a:graphic>
      </p:graphicFrame>
      <p:sp>
        <p:nvSpPr>
          <p:cNvPr id="3" name="Slide Number Placeholder 5">
            <a:extLst>
              <a:ext uri="{FF2B5EF4-FFF2-40B4-BE49-F238E27FC236}">
                <a16:creationId xmlns:a16="http://schemas.microsoft.com/office/drawing/2014/main" id="{9B043126-1F48-C948-8287-389F339DD722}"/>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97990E2-83FC-4479-A9D7-4872A6E46ADD}" type="slidenum">
              <a:rPr lang="en-US" altLang="en-US" smtClean="0"/>
              <a:pPr>
                <a:defRPr/>
              </a:pPr>
              <a:t>8</a:t>
            </a:fld>
            <a:endParaRPr lang="en-US" altLang="en-US"/>
          </a:p>
        </p:txBody>
      </p:sp>
    </p:spTree>
    <p:extLst>
      <p:ext uri="{BB962C8B-B14F-4D97-AF65-F5344CB8AC3E}">
        <p14:creationId xmlns:p14="http://schemas.microsoft.com/office/powerpoint/2010/main" val="1811129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046511"/>
          </a:xfrm>
        </p:spPr>
        <p:txBody>
          <a:bodyPr>
            <a:normAutofit/>
          </a:bodyPr>
          <a:lstStyle/>
          <a:p>
            <a:pPr algn="ctr"/>
            <a:r>
              <a:rPr lang="en-US" sz="4000" dirty="0">
                <a:latin typeface="Times New Roman" panose="02020603050405020304" pitchFamily="18" charset="0"/>
                <a:cs typeface="Times New Roman" panose="02020603050405020304" pitchFamily="18" charset="0"/>
              </a:rPr>
              <a:t>PROPOSED METHODOLOGY</a:t>
            </a:r>
          </a:p>
        </p:txBody>
      </p:sp>
      <p:sp>
        <p:nvSpPr>
          <p:cNvPr id="4" name="Date Placeholder 3"/>
          <p:cNvSpPr>
            <a:spLocks noGrp="1"/>
          </p:cNvSpPr>
          <p:nvPr>
            <p:ph type="dt" sz="half" idx="10"/>
          </p:nvPr>
        </p:nvSpPr>
        <p:spPr/>
        <p:txBody>
          <a:bodyPr/>
          <a:lstStyle/>
          <a:p>
            <a:fld id="{867F260A-DD09-44F7-B980-373C528FDC8A}" type="datetime1">
              <a:rPr lang="en-US" smtClean="0"/>
              <a:t>11/3/2025</a:t>
            </a:fld>
            <a:endParaRPr lang="en-US"/>
          </a:p>
        </p:txBody>
      </p:sp>
      <p:pic>
        <p:nvPicPr>
          <p:cNvPr id="8" name="Picture 7">
            <a:extLst>
              <a:ext uri="{FF2B5EF4-FFF2-40B4-BE49-F238E27FC236}">
                <a16:creationId xmlns:a16="http://schemas.microsoft.com/office/drawing/2014/main" id="{F149A923-31AE-10BB-CD6A-E7FF6873E1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8519" y="2414446"/>
            <a:ext cx="9754961" cy="2029108"/>
          </a:xfrm>
          <a:prstGeom prst="rect">
            <a:avLst/>
          </a:prstGeom>
        </p:spPr>
      </p:pic>
      <p:sp>
        <p:nvSpPr>
          <p:cNvPr id="10" name="Slide Number Placeholder 5">
            <a:extLst>
              <a:ext uri="{FF2B5EF4-FFF2-40B4-BE49-F238E27FC236}">
                <a16:creationId xmlns:a16="http://schemas.microsoft.com/office/drawing/2014/main" id="{7148C2E8-A6EB-48C6-3D9A-29A090FAB640}"/>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97990E2-83FC-4479-A9D7-4872A6E46ADD}" type="slidenum">
              <a:rPr lang="en-US" altLang="en-US" smtClean="0"/>
              <a:pPr>
                <a:defRPr/>
              </a:pPr>
              <a:t>9</a:t>
            </a:fld>
            <a:endParaRPr lang="en-US" altLang="en-US"/>
          </a:p>
        </p:txBody>
      </p:sp>
    </p:spTree>
    <p:extLst>
      <p:ext uri="{BB962C8B-B14F-4D97-AF65-F5344CB8AC3E}">
        <p14:creationId xmlns:p14="http://schemas.microsoft.com/office/powerpoint/2010/main" val="2710071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6E59A-8E7E-3061-CAA7-1E60C0DB0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6264A7-D64C-7A2B-1F60-79F25D531D15}"/>
              </a:ext>
            </a:extLst>
          </p:cNvPr>
          <p:cNvSpPr>
            <a:spLocks noGrp="1"/>
          </p:cNvSpPr>
          <p:nvPr>
            <p:ph type="title"/>
          </p:nvPr>
        </p:nvSpPr>
        <p:spPr>
          <a:xfrm>
            <a:off x="838200" y="365126"/>
            <a:ext cx="10515600" cy="792672"/>
          </a:xfrm>
        </p:spPr>
        <p:txBody>
          <a:bodyPr>
            <a:normAutofit/>
          </a:bodyPr>
          <a:lstStyle/>
          <a:p>
            <a:pPr algn="ctr"/>
            <a:r>
              <a:rPr lang="en-US" sz="4000" b="1" dirty="0"/>
              <a:t>MODULES</a:t>
            </a:r>
          </a:p>
        </p:txBody>
      </p:sp>
      <p:sp>
        <p:nvSpPr>
          <p:cNvPr id="3" name="Content Placeholder 2">
            <a:extLst>
              <a:ext uri="{FF2B5EF4-FFF2-40B4-BE49-F238E27FC236}">
                <a16:creationId xmlns:a16="http://schemas.microsoft.com/office/drawing/2014/main" id="{29369F71-5DEB-8913-A5B1-A4EAF722B68E}"/>
              </a:ext>
            </a:extLst>
          </p:cNvPr>
          <p:cNvSpPr>
            <a:spLocks noGrp="1"/>
          </p:cNvSpPr>
          <p:nvPr>
            <p:ph idx="1"/>
          </p:nvPr>
        </p:nvSpPr>
        <p:spPr>
          <a:xfrm>
            <a:off x="941231" y="1350962"/>
            <a:ext cx="10515600" cy="5005387"/>
          </a:xfrm>
        </p:spPr>
        <p:txBody>
          <a:bodyPr>
            <a:normAutofit/>
          </a:bodyPr>
          <a:lstStyle/>
          <a:p>
            <a:pPr marR="100330" algn="just">
              <a:lnSpc>
                <a:spcPct val="150000"/>
              </a:lnSpc>
              <a:spcBef>
                <a:spcPts val="0"/>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Data Import Module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Loads raw dataset into system for processing.</a:t>
            </a:r>
          </a:p>
          <a:p>
            <a:pPr marR="100330" algn="just">
              <a:lnSpc>
                <a:spcPct val="150000"/>
              </a:lnSpc>
              <a:spcBef>
                <a:spcPts val="0"/>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Data Profiling (EDA) Module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Generates automated statistical summary, correlations, distributions &amp; quality report.</a:t>
            </a:r>
          </a:p>
          <a:p>
            <a:pPr marR="100330" algn="just">
              <a:lnSpc>
                <a:spcPct val="150000"/>
              </a:lnSpc>
              <a:spcBef>
                <a:spcPts val="0"/>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Data Cleaning Module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Handles missing values, removes duplicates, fixes formatting &amp; standardizes data.</a:t>
            </a:r>
          </a:p>
          <a:p>
            <a:pPr marR="100330" algn="just">
              <a:lnSpc>
                <a:spcPct val="150000"/>
              </a:lnSpc>
              <a:spcBef>
                <a:spcPts val="0"/>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Anomaly Detection Module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Detects abnormal values using IQR &amp; Isolation Forest model techniques.</a:t>
            </a:r>
          </a:p>
          <a:p>
            <a:pPr marR="100330" algn="just">
              <a:lnSpc>
                <a:spcPct val="150000"/>
              </a:lnSpc>
              <a:spcBef>
                <a:spcPts val="0"/>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Visualization Module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Creates interactive plots, charts and insights for better interpretation.</a:t>
            </a:r>
          </a:p>
          <a:p>
            <a:pPr marR="100330" algn="just">
              <a:lnSpc>
                <a:spcPct val="150000"/>
              </a:lnSpc>
              <a:spcBef>
                <a:spcPts val="0"/>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Export Module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Exports cleaned &amp; anomaly-free final dataset for ML model usage.</a:t>
            </a:r>
          </a:p>
        </p:txBody>
      </p:sp>
      <p:sp>
        <p:nvSpPr>
          <p:cNvPr id="4" name="Date Placeholder 3">
            <a:extLst>
              <a:ext uri="{FF2B5EF4-FFF2-40B4-BE49-F238E27FC236}">
                <a16:creationId xmlns:a16="http://schemas.microsoft.com/office/drawing/2014/main" id="{51C7F580-E8EA-9D3B-3992-00845866A349}"/>
              </a:ext>
            </a:extLst>
          </p:cNvPr>
          <p:cNvSpPr>
            <a:spLocks noGrp="1"/>
          </p:cNvSpPr>
          <p:nvPr>
            <p:ph type="dt" sz="half" idx="10"/>
          </p:nvPr>
        </p:nvSpPr>
        <p:spPr/>
        <p:txBody>
          <a:bodyPr/>
          <a:lstStyle/>
          <a:p>
            <a:fld id="{22F8D465-B3B5-45E4-AF90-0D3587B0DA97}" type="datetime1">
              <a:rPr lang="en-US" smtClean="0"/>
              <a:t>11/3/2025</a:t>
            </a:fld>
            <a:endParaRPr lang="en-US" dirty="0"/>
          </a:p>
        </p:txBody>
      </p:sp>
      <p:sp>
        <p:nvSpPr>
          <p:cNvPr id="7" name="Slide Number Placeholder 5">
            <a:extLst>
              <a:ext uri="{FF2B5EF4-FFF2-40B4-BE49-F238E27FC236}">
                <a16:creationId xmlns:a16="http://schemas.microsoft.com/office/drawing/2014/main" id="{530A20F4-AE8C-440F-BDE3-1D4F123DCE43}"/>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97990E2-83FC-4479-A9D7-4872A6E46ADD}" type="slidenum">
              <a:rPr lang="en-US" altLang="en-US" smtClean="0"/>
              <a:pPr>
                <a:defRPr/>
              </a:pPr>
              <a:t>10</a:t>
            </a:fld>
            <a:endParaRPr lang="en-US" altLang="en-US"/>
          </a:p>
        </p:txBody>
      </p:sp>
    </p:spTree>
    <p:extLst>
      <p:ext uri="{BB962C8B-B14F-4D97-AF65-F5344CB8AC3E}">
        <p14:creationId xmlns:p14="http://schemas.microsoft.com/office/powerpoint/2010/main" val="2684576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6E59A-8E7E-3061-CAA7-1E60C0DB0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6264A7-D64C-7A2B-1F60-79F25D531D15}"/>
              </a:ext>
            </a:extLst>
          </p:cNvPr>
          <p:cNvSpPr>
            <a:spLocks noGrp="1"/>
          </p:cNvSpPr>
          <p:nvPr>
            <p:ph type="title"/>
          </p:nvPr>
        </p:nvSpPr>
        <p:spPr>
          <a:xfrm>
            <a:off x="838200" y="365126"/>
            <a:ext cx="10515600" cy="792672"/>
          </a:xfrm>
        </p:spPr>
        <p:txBody>
          <a:bodyPr>
            <a:normAutofit/>
          </a:bodyPr>
          <a:lstStyle/>
          <a:p>
            <a:pPr algn="ctr"/>
            <a:r>
              <a:rPr lang="en-US" sz="4000" b="1" dirty="0"/>
              <a:t>MODULES</a:t>
            </a:r>
          </a:p>
        </p:txBody>
      </p:sp>
      <p:sp>
        <p:nvSpPr>
          <p:cNvPr id="3" name="Content Placeholder 2">
            <a:extLst>
              <a:ext uri="{FF2B5EF4-FFF2-40B4-BE49-F238E27FC236}">
                <a16:creationId xmlns:a16="http://schemas.microsoft.com/office/drawing/2014/main" id="{29369F71-5DEB-8913-A5B1-A4EAF722B68E}"/>
              </a:ext>
            </a:extLst>
          </p:cNvPr>
          <p:cNvSpPr>
            <a:spLocks noGrp="1"/>
          </p:cNvSpPr>
          <p:nvPr>
            <p:ph idx="1"/>
          </p:nvPr>
        </p:nvSpPr>
        <p:spPr>
          <a:xfrm>
            <a:off x="941231" y="1350962"/>
            <a:ext cx="10515600" cy="5005387"/>
          </a:xfrm>
        </p:spPr>
        <p:txBody>
          <a:bodyPr>
            <a:normAutofit/>
          </a:bodyPr>
          <a:lstStyle/>
          <a:p>
            <a:pPr marR="100330" algn="just">
              <a:lnSpc>
                <a:spcPct val="150000"/>
              </a:lnSpc>
              <a:spcBef>
                <a:spcPts val="0"/>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Preprocessing Transformation Module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Applies normalization, encoding, type conversions and feature adjustments to prepare uniform dataset structure.</a:t>
            </a:r>
          </a:p>
          <a:p>
            <a:pPr marR="100330" algn="just">
              <a:lnSpc>
                <a:spcPct val="150000"/>
              </a:lnSpc>
              <a:spcBef>
                <a:spcPts val="0"/>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Quality Validation Module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Cross checks data sanity after cleaning to ensure improvement in accuracy, stability and reliability.</a:t>
            </a:r>
          </a:p>
          <a:p>
            <a:pPr marR="100330" algn="just">
              <a:lnSpc>
                <a:spcPct val="150000"/>
              </a:lnSpc>
              <a:spcBef>
                <a:spcPts val="0"/>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Automated Pipeline Execution Module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Runs all cleaning and anomaly detection steps in sequence without manual intervention.</a:t>
            </a:r>
          </a:p>
          <a:p>
            <a:pPr marR="100330" algn="just">
              <a:lnSpc>
                <a:spcPct val="150000"/>
              </a:lnSpc>
              <a:spcBef>
                <a:spcPts val="0"/>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Reporting &amp; Summary Module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Generates final reports showing before vs after cleaning comparison, anomaly count reduction and profiling improvements.</a:t>
            </a:r>
          </a:p>
          <a:p>
            <a:pPr marR="100330" algn="just">
              <a:lnSpc>
                <a:spcPct val="150000"/>
              </a:lnSpc>
              <a:spcBef>
                <a:spcPts val="0"/>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User Interface Module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Allows users to upload, view results, visualize data and export cleaned files through a simple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Streamlit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based UI.</a:t>
            </a:r>
          </a:p>
        </p:txBody>
      </p:sp>
      <p:sp>
        <p:nvSpPr>
          <p:cNvPr id="4" name="Date Placeholder 3">
            <a:extLst>
              <a:ext uri="{FF2B5EF4-FFF2-40B4-BE49-F238E27FC236}">
                <a16:creationId xmlns:a16="http://schemas.microsoft.com/office/drawing/2014/main" id="{51C7F580-E8EA-9D3B-3992-00845866A349}"/>
              </a:ext>
            </a:extLst>
          </p:cNvPr>
          <p:cNvSpPr>
            <a:spLocks noGrp="1"/>
          </p:cNvSpPr>
          <p:nvPr>
            <p:ph type="dt" sz="half" idx="10"/>
          </p:nvPr>
        </p:nvSpPr>
        <p:spPr/>
        <p:txBody>
          <a:bodyPr/>
          <a:lstStyle/>
          <a:p>
            <a:fld id="{22F8D465-B3B5-45E4-AF90-0D3587B0DA97}" type="datetime1">
              <a:rPr lang="en-US" smtClean="0"/>
              <a:t>11/3/2025</a:t>
            </a:fld>
            <a:endParaRPr lang="en-US"/>
          </a:p>
        </p:txBody>
      </p:sp>
      <p:sp>
        <p:nvSpPr>
          <p:cNvPr id="7" name="Slide Number Placeholder 5">
            <a:extLst>
              <a:ext uri="{FF2B5EF4-FFF2-40B4-BE49-F238E27FC236}">
                <a16:creationId xmlns:a16="http://schemas.microsoft.com/office/drawing/2014/main" id="{7FB9C712-5AFF-769A-F2CF-D75A8A17CEA2}"/>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97990E2-83FC-4479-A9D7-4872A6E46ADD}" type="slidenum">
              <a:rPr lang="en-US" altLang="en-US" smtClean="0"/>
              <a:pPr>
                <a:defRPr/>
              </a:pPr>
              <a:t>11</a:t>
            </a:fld>
            <a:endParaRPr lang="en-US" altLang="en-US"/>
          </a:p>
        </p:txBody>
      </p:sp>
    </p:spTree>
    <p:extLst>
      <p:ext uri="{BB962C8B-B14F-4D97-AF65-F5344CB8AC3E}">
        <p14:creationId xmlns:p14="http://schemas.microsoft.com/office/powerpoint/2010/main" val="554316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A23E8-CE07-91B5-84FA-D6E000EF13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ACD10-B002-084B-BD89-ACDC3AC7BACE}"/>
              </a:ext>
            </a:extLst>
          </p:cNvPr>
          <p:cNvSpPr>
            <a:spLocks noGrp="1"/>
          </p:cNvSpPr>
          <p:nvPr>
            <p:ph type="title"/>
          </p:nvPr>
        </p:nvSpPr>
        <p:spPr>
          <a:xfrm>
            <a:off x="838200" y="365126"/>
            <a:ext cx="10515600" cy="792672"/>
          </a:xfrm>
        </p:spPr>
        <p:txBody>
          <a:bodyPr>
            <a:normAutofit/>
          </a:bodyPr>
          <a:lstStyle/>
          <a:p>
            <a:pPr algn="ctr"/>
            <a:r>
              <a:rPr lang="en-US" sz="4000" b="1" dirty="0"/>
              <a:t>CODING</a:t>
            </a:r>
          </a:p>
        </p:txBody>
      </p:sp>
      <p:sp>
        <p:nvSpPr>
          <p:cNvPr id="4" name="Date Placeholder 3">
            <a:extLst>
              <a:ext uri="{FF2B5EF4-FFF2-40B4-BE49-F238E27FC236}">
                <a16:creationId xmlns:a16="http://schemas.microsoft.com/office/drawing/2014/main" id="{7A489FAE-CCAE-3C4D-96FF-21E477E600D1}"/>
              </a:ext>
            </a:extLst>
          </p:cNvPr>
          <p:cNvSpPr>
            <a:spLocks noGrp="1"/>
          </p:cNvSpPr>
          <p:nvPr>
            <p:ph type="dt" sz="half" idx="10"/>
          </p:nvPr>
        </p:nvSpPr>
        <p:spPr/>
        <p:txBody>
          <a:bodyPr/>
          <a:lstStyle/>
          <a:p>
            <a:fld id="{22F8D465-B3B5-45E4-AF90-0D3587B0DA97}" type="datetime1">
              <a:rPr lang="en-US" smtClean="0"/>
              <a:t>11/3/2025</a:t>
            </a:fld>
            <a:endParaRPr lang="en-US"/>
          </a:p>
        </p:txBody>
      </p:sp>
      <p:sp>
        <p:nvSpPr>
          <p:cNvPr id="13" name="TextBox 12">
            <a:extLst>
              <a:ext uri="{FF2B5EF4-FFF2-40B4-BE49-F238E27FC236}">
                <a16:creationId xmlns:a16="http://schemas.microsoft.com/office/drawing/2014/main" id="{AC5DFDB8-362D-464F-77CB-5F0D57E5C88E}"/>
              </a:ext>
            </a:extLst>
          </p:cNvPr>
          <p:cNvSpPr txBox="1"/>
          <p:nvPr/>
        </p:nvSpPr>
        <p:spPr>
          <a:xfrm>
            <a:off x="3042410" y="5785631"/>
            <a:ext cx="6097604" cy="369332"/>
          </a:xfrm>
          <a:prstGeom prst="rect">
            <a:avLst/>
          </a:prstGeom>
          <a:noFill/>
        </p:spPr>
        <p:txBody>
          <a:bodyPr wrap="square">
            <a:spAutoFit/>
          </a:bodyPr>
          <a:lstStyle/>
          <a:p>
            <a:pPr marL="0" marR="0" indent="182880" algn="ctr">
              <a:lnSpc>
                <a:spcPct val="95000"/>
              </a:lnSpc>
              <a:spcAft>
                <a:spcPts val="600"/>
              </a:spcAft>
              <a:tabLst>
                <a:tab pos="182880" algn="l"/>
              </a:tabLst>
            </a:pPr>
            <a:r>
              <a:rPr lang="en-US" sz="1800" dirty="0">
                <a:solidFill>
                  <a:srgbClr val="000000"/>
                </a:solidFill>
                <a:effectLst/>
                <a:latin typeface="Times New Roman" panose="02020603050405020304" pitchFamily="18" charset="0"/>
                <a:ea typeface="SimSun" panose="02010600030101010101" pitchFamily="2" charset="-122"/>
              </a:rPr>
              <a:t>User Interface</a:t>
            </a:r>
            <a:endParaRPr lang="en-US" sz="1800" spc="-5" dirty="0">
              <a:effectLst/>
              <a:latin typeface="Times New Roman" panose="02020603050405020304" pitchFamily="18" charset="0"/>
              <a:ea typeface="SimSun" panose="02010600030101010101" pitchFamily="2" charset="-122"/>
            </a:endParaRPr>
          </a:p>
        </p:txBody>
      </p:sp>
      <p:pic>
        <p:nvPicPr>
          <p:cNvPr id="10" name="Picture 9">
            <a:extLst>
              <a:ext uri="{FF2B5EF4-FFF2-40B4-BE49-F238E27FC236}">
                <a16:creationId xmlns:a16="http://schemas.microsoft.com/office/drawing/2014/main" id="{ED9E1EA9-35D7-E262-D880-F075F5199A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24074" y="1257774"/>
            <a:ext cx="7534275" cy="4060860"/>
          </a:xfrm>
          <a:prstGeom prst="rect">
            <a:avLst/>
          </a:prstGeom>
        </p:spPr>
      </p:pic>
      <p:sp>
        <p:nvSpPr>
          <p:cNvPr id="11" name="Slide Number Placeholder 5">
            <a:extLst>
              <a:ext uri="{FF2B5EF4-FFF2-40B4-BE49-F238E27FC236}">
                <a16:creationId xmlns:a16="http://schemas.microsoft.com/office/drawing/2014/main" id="{2A9B6666-1CC2-FB6D-2A52-4C7C828886AE}"/>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97990E2-83FC-4479-A9D7-4872A6E46ADD}" type="slidenum">
              <a:rPr lang="en-US" altLang="en-US" smtClean="0"/>
              <a:pPr>
                <a:defRPr/>
              </a:pPr>
              <a:t>12</a:t>
            </a:fld>
            <a:endParaRPr lang="en-US" altLang="en-US"/>
          </a:p>
        </p:txBody>
      </p:sp>
    </p:spTree>
    <p:extLst>
      <p:ext uri="{BB962C8B-B14F-4D97-AF65-F5344CB8AC3E}">
        <p14:creationId xmlns:p14="http://schemas.microsoft.com/office/powerpoint/2010/main" val="2036352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44DEE-58CA-A973-C9BF-654155999C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7ED107-1431-2E96-B9F6-CA106C5F0A42}"/>
              </a:ext>
            </a:extLst>
          </p:cNvPr>
          <p:cNvSpPr>
            <a:spLocks noGrp="1"/>
          </p:cNvSpPr>
          <p:nvPr>
            <p:ph type="title"/>
          </p:nvPr>
        </p:nvSpPr>
        <p:spPr>
          <a:xfrm>
            <a:off x="838200" y="365126"/>
            <a:ext cx="10515600" cy="792672"/>
          </a:xfrm>
        </p:spPr>
        <p:txBody>
          <a:bodyPr>
            <a:normAutofit/>
          </a:bodyPr>
          <a:lstStyle/>
          <a:p>
            <a:pPr algn="ctr"/>
            <a:r>
              <a:rPr lang="en-US" sz="4000" b="1" dirty="0"/>
              <a:t>CODING</a:t>
            </a:r>
          </a:p>
        </p:txBody>
      </p:sp>
      <p:sp>
        <p:nvSpPr>
          <p:cNvPr id="4" name="Date Placeholder 3">
            <a:extLst>
              <a:ext uri="{FF2B5EF4-FFF2-40B4-BE49-F238E27FC236}">
                <a16:creationId xmlns:a16="http://schemas.microsoft.com/office/drawing/2014/main" id="{DE596A4D-CCFC-DAA7-DA7B-9A15CACA511B}"/>
              </a:ext>
            </a:extLst>
          </p:cNvPr>
          <p:cNvSpPr>
            <a:spLocks noGrp="1"/>
          </p:cNvSpPr>
          <p:nvPr>
            <p:ph type="dt" sz="half" idx="10"/>
          </p:nvPr>
        </p:nvSpPr>
        <p:spPr/>
        <p:txBody>
          <a:bodyPr/>
          <a:lstStyle/>
          <a:p>
            <a:fld id="{22F8D465-B3B5-45E4-AF90-0D3587B0DA97}" type="datetime1">
              <a:rPr lang="en-US" smtClean="0"/>
              <a:t>11/3/2025</a:t>
            </a:fld>
            <a:endParaRPr lang="en-US"/>
          </a:p>
        </p:txBody>
      </p:sp>
      <p:sp>
        <p:nvSpPr>
          <p:cNvPr id="13" name="TextBox 12">
            <a:extLst>
              <a:ext uri="{FF2B5EF4-FFF2-40B4-BE49-F238E27FC236}">
                <a16:creationId xmlns:a16="http://schemas.microsoft.com/office/drawing/2014/main" id="{6B8B6382-042D-382C-99AC-17441C5C8A47}"/>
              </a:ext>
            </a:extLst>
          </p:cNvPr>
          <p:cNvSpPr txBox="1"/>
          <p:nvPr/>
        </p:nvSpPr>
        <p:spPr>
          <a:xfrm>
            <a:off x="3042410" y="5785631"/>
            <a:ext cx="6097604" cy="369332"/>
          </a:xfrm>
          <a:prstGeom prst="rect">
            <a:avLst/>
          </a:prstGeom>
          <a:noFill/>
        </p:spPr>
        <p:txBody>
          <a:bodyPr wrap="square">
            <a:spAutoFit/>
          </a:bodyPr>
          <a:lstStyle/>
          <a:p>
            <a:pPr indent="182880" algn="ctr">
              <a:lnSpc>
                <a:spcPct val="95000"/>
              </a:lnSpc>
              <a:spcAft>
                <a:spcPts val="600"/>
              </a:spcAft>
              <a:tabLst>
                <a:tab pos="182880" algn="l"/>
              </a:tabLst>
            </a:pPr>
            <a:r>
              <a:rPr lang="en-IN" dirty="0"/>
              <a:t>Profiling Output</a:t>
            </a:r>
            <a:endParaRPr lang="en-US" sz="1800" spc="-5" dirty="0">
              <a:effectLst/>
              <a:latin typeface="Times New Roman" panose="02020603050405020304" pitchFamily="18" charset="0"/>
              <a:ea typeface="SimSun" panose="02010600030101010101" pitchFamily="2" charset="-122"/>
            </a:endParaRPr>
          </a:p>
        </p:txBody>
      </p:sp>
      <p:pic>
        <p:nvPicPr>
          <p:cNvPr id="5" name="Picture 4">
            <a:extLst>
              <a:ext uri="{FF2B5EF4-FFF2-40B4-BE49-F238E27FC236}">
                <a16:creationId xmlns:a16="http://schemas.microsoft.com/office/drawing/2014/main" id="{801D2B34-4AD5-E225-3433-E51FDBC69B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5327" y="1171577"/>
            <a:ext cx="7696873" cy="4210048"/>
          </a:xfrm>
          <a:prstGeom prst="rect">
            <a:avLst/>
          </a:prstGeom>
        </p:spPr>
      </p:pic>
      <p:sp>
        <p:nvSpPr>
          <p:cNvPr id="7" name="Slide Number Placeholder 5">
            <a:extLst>
              <a:ext uri="{FF2B5EF4-FFF2-40B4-BE49-F238E27FC236}">
                <a16:creationId xmlns:a16="http://schemas.microsoft.com/office/drawing/2014/main" id="{718AD42D-22F4-A146-7C22-43CD4DC13A93}"/>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97990E2-83FC-4479-A9D7-4872A6E46ADD}" type="slidenum">
              <a:rPr lang="en-US" altLang="en-US" smtClean="0"/>
              <a:pPr>
                <a:defRPr/>
              </a:pPr>
              <a:t>13</a:t>
            </a:fld>
            <a:endParaRPr lang="en-US" altLang="en-US"/>
          </a:p>
        </p:txBody>
      </p:sp>
    </p:spTree>
    <p:extLst>
      <p:ext uri="{BB962C8B-B14F-4D97-AF65-F5344CB8AC3E}">
        <p14:creationId xmlns:p14="http://schemas.microsoft.com/office/powerpoint/2010/main" val="1901005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93D39-7B8A-F30C-1F4F-F7DEEE984A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60132C-C489-389D-5FF8-851672492CB7}"/>
              </a:ext>
            </a:extLst>
          </p:cNvPr>
          <p:cNvSpPr>
            <a:spLocks noGrp="1"/>
          </p:cNvSpPr>
          <p:nvPr>
            <p:ph type="title"/>
          </p:nvPr>
        </p:nvSpPr>
        <p:spPr>
          <a:xfrm>
            <a:off x="838200" y="365126"/>
            <a:ext cx="10515600" cy="792672"/>
          </a:xfrm>
        </p:spPr>
        <p:txBody>
          <a:bodyPr>
            <a:normAutofit/>
          </a:bodyPr>
          <a:lstStyle/>
          <a:p>
            <a:pPr algn="ctr"/>
            <a:r>
              <a:rPr lang="en-US" sz="4000" b="1" dirty="0"/>
              <a:t>TESTING</a:t>
            </a:r>
          </a:p>
        </p:txBody>
      </p:sp>
      <p:sp>
        <p:nvSpPr>
          <p:cNvPr id="4" name="Date Placeholder 3">
            <a:extLst>
              <a:ext uri="{FF2B5EF4-FFF2-40B4-BE49-F238E27FC236}">
                <a16:creationId xmlns:a16="http://schemas.microsoft.com/office/drawing/2014/main" id="{1BB800C1-BECC-9FD4-78F3-5AA1D39AE849}"/>
              </a:ext>
            </a:extLst>
          </p:cNvPr>
          <p:cNvSpPr>
            <a:spLocks noGrp="1"/>
          </p:cNvSpPr>
          <p:nvPr>
            <p:ph type="dt" sz="half" idx="10"/>
          </p:nvPr>
        </p:nvSpPr>
        <p:spPr/>
        <p:txBody>
          <a:bodyPr/>
          <a:lstStyle/>
          <a:p>
            <a:fld id="{22F8D465-B3B5-45E4-AF90-0D3587B0DA97}" type="datetime1">
              <a:rPr lang="en-US" smtClean="0"/>
              <a:t>11/3/2025</a:t>
            </a:fld>
            <a:endParaRPr lang="en-US"/>
          </a:p>
        </p:txBody>
      </p:sp>
      <p:graphicFrame>
        <p:nvGraphicFramePr>
          <p:cNvPr id="11" name="Table 10">
            <a:extLst>
              <a:ext uri="{FF2B5EF4-FFF2-40B4-BE49-F238E27FC236}">
                <a16:creationId xmlns:a16="http://schemas.microsoft.com/office/drawing/2014/main" id="{E1DE8892-449A-7782-3458-725DE7C46E64}"/>
              </a:ext>
            </a:extLst>
          </p:cNvPr>
          <p:cNvGraphicFramePr>
            <a:graphicFrameLocks noGrp="1"/>
          </p:cNvGraphicFramePr>
          <p:nvPr>
            <p:extLst>
              <p:ext uri="{D42A27DB-BD31-4B8C-83A1-F6EECF244321}">
                <p14:modId xmlns:p14="http://schemas.microsoft.com/office/powerpoint/2010/main" val="337770511"/>
              </p:ext>
            </p:extLst>
          </p:nvPr>
        </p:nvGraphicFramePr>
        <p:xfrm>
          <a:off x="238125" y="1016028"/>
          <a:ext cx="11658600" cy="5292349"/>
        </p:xfrm>
        <a:graphic>
          <a:graphicData uri="http://schemas.openxmlformats.org/drawingml/2006/table">
            <a:tbl>
              <a:tblPr firstRow="1" bandRow="1">
                <a:tableStyleId>{21E4AEA4-8DFA-4A89-87EB-49C32662AFE0}</a:tableStyleId>
              </a:tblPr>
              <a:tblGrid>
                <a:gridCol w="1274117">
                  <a:extLst>
                    <a:ext uri="{9D8B030D-6E8A-4147-A177-3AD203B41FA5}">
                      <a16:colId xmlns:a16="http://schemas.microsoft.com/office/drawing/2014/main" val="3141278149"/>
                    </a:ext>
                  </a:extLst>
                </a:gridCol>
                <a:gridCol w="4128346">
                  <a:extLst>
                    <a:ext uri="{9D8B030D-6E8A-4147-A177-3AD203B41FA5}">
                      <a16:colId xmlns:a16="http://schemas.microsoft.com/office/drawing/2014/main" val="148271960"/>
                    </a:ext>
                  </a:extLst>
                </a:gridCol>
                <a:gridCol w="2234021">
                  <a:extLst>
                    <a:ext uri="{9D8B030D-6E8A-4147-A177-3AD203B41FA5}">
                      <a16:colId xmlns:a16="http://schemas.microsoft.com/office/drawing/2014/main" val="2694023363"/>
                    </a:ext>
                  </a:extLst>
                </a:gridCol>
                <a:gridCol w="2011058">
                  <a:extLst>
                    <a:ext uri="{9D8B030D-6E8A-4147-A177-3AD203B41FA5}">
                      <a16:colId xmlns:a16="http://schemas.microsoft.com/office/drawing/2014/main" val="3381242927"/>
                    </a:ext>
                  </a:extLst>
                </a:gridCol>
                <a:gridCol w="2011058">
                  <a:extLst>
                    <a:ext uri="{9D8B030D-6E8A-4147-A177-3AD203B41FA5}">
                      <a16:colId xmlns:a16="http://schemas.microsoft.com/office/drawing/2014/main" val="2859369937"/>
                    </a:ext>
                  </a:extLst>
                </a:gridCol>
              </a:tblGrid>
              <a:tr h="581021">
                <a:tc>
                  <a:txBody>
                    <a:bodyPr/>
                    <a:lstStyle/>
                    <a:p>
                      <a:pPr>
                        <a:buNone/>
                      </a:pPr>
                      <a:r>
                        <a:rPr lang="en-IN" dirty="0"/>
                        <a:t>TEST CASE ID</a:t>
                      </a:r>
                    </a:p>
                  </a:txBody>
                  <a:tcPr anchor="ctr"/>
                </a:tc>
                <a:tc>
                  <a:txBody>
                    <a:bodyPr/>
                    <a:lstStyle/>
                    <a:p>
                      <a:pPr>
                        <a:buNone/>
                      </a:pPr>
                      <a:r>
                        <a:rPr lang="en-IN"/>
                        <a:t>TEST CASE</a:t>
                      </a:r>
                    </a:p>
                  </a:txBody>
                  <a:tcPr anchor="ctr"/>
                </a:tc>
                <a:tc>
                  <a:txBody>
                    <a:bodyPr/>
                    <a:lstStyle/>
                    <a:p>
                      <a:pPr>
                        <a:buNone/>
                      </a:pPr>
                      <a:r>
                        <a:rPr lang="en-IN"/>
                        <a:t>ACTUAL OUTPUT</a:t>
                      </a:r>
                    </a:p>
                  </a:txBody>
                  <a:tcPr anchor="ctr"/>
                </a:tc>
                <a:tc>
                  <a:txBody>
                    <a:bodyPr/>
                    <a:lstStyle/>
                    <a:p>
                      <a:pPr>
                        <a:buNone/>
                      </a:pPr>
                      <a:r>
                        <a:rPr lang="en-IN"/>
                        <a:t>PREDICTION</a:t>
                      </a:r>
                    </a:p>
                  </a:txBody>
                  <a:tcPr anchor="ctr"/>
                </a:tc>
                <a:tc>
                  <a:txBody>
                    <a:bodyPr/>
                    <a:lstStyle/>
                    <a:p>
                      <a:pPr>
                        <a:buNone/>
                      </a:pPr>
                      <a:r>
                        <a:rPr lang="en-IN"/>
                        <a:t>RESULT</a:t>
                      </a:r>
                    </a:p>
                  </a:txBody>
                  <a:tcPr anchor="ctr"/>
                </a:tc>
                <a:extLst>
                  <a:ext uri="{0D108BD9-81ED-4DB2-BD59-A6C34878D82A}">
                    <a16:rowId xmlns:a16="http://schemas.microsoft.com/office/drawing/2014/main" val="8074576"/>
                  </a:ext>
                </a:extLst>
              </a:tr>
              <a:tr h="1079039">
                <a:tc>
                  <a:txBody>
                    <a:bodyPr/>
                    <a:lstStyle/>
                    <a:p>
                      <a:pPr>
                        <a:buNone/>
                      </a:pPr>
                      <a:r>
                        <a:rPr lang="en-IN"/>
                        <a:t>1</a:t>
                      </a:r>
                    </a:p>
                  </a:txBody>
                  <a:tcPr anchor="ctr"/>
                </a:tc>
                <a:tc>
                  <a:txBody>
                    <a:bodyPr/>
                    <a:lstStyle/>
                    <a:p>
                      <a:pPr>
                        <a:buNone/>
                      </a:pPr>
                      <a:r>
                        <a:rPr lang="en-US"/>
                        <a:t>Upload dataset with mixed missing values</a:t>
                      </a:r>
                    </a:p>
                  </a:txBody>
                  <a:tcPr anchor="ctr"/>
                </a:tc>
                <a:tc>
                  <a:txBody>
                    <a:bodyPr/>
                    <a:lstStyle/>
                    <a:p>
                      <a:pPr>
                        <a:buNone/>
                      </a:pPr>
                      <a:r>
                        <a:rPr lang="en-US"/>
                        <a:t>Missing values detected in multiple columns</a:t>
                      </a:r>
                    </a:p>
                  </a:txBody>
                  <a:tcPr anchor="ctr"/>
                </a:tc>
                <a:tc>
                  <a:txBody>
                    <a:bodyPr/>
                    <a:lstStyle/>
                    <a:p>
                      <a:pPr>
                        <a:buNone/>
                      </a:pPr>
                      <a:r>
                        <a:rPr lang="en-US"/>
                        <a:t>System correctly identifies missing % and shows summary</a:t>
                      </a:r>
                    </a:p>
                  </a:txBody>
                  <a:tcPr anchor="ctr"/>
                </a:tc>
                <a:tc>
                  <a:txBody>
                    <a:bodyPr/>
                    <a:lstStyle/>
                    <a:p>
                      <a:pPr>
                        <a:buNone/>
                      </a:pPr>
                      <a:r>
                        <a:rPr lang="en-IN"/>
                        <a:t>PASS</a:t>
                      </a:r>
                    </a:p>
                  </a:txBody>
                  <a:tcPr anchor="ctr"/>
                </a:tc>
                <a:extLst>
                  <a:ext uri="{0D108BD9-81ED-4DB2-BD59-A6C34878D82A}">
                    <a16:rowId xmlns:a16="http://schemas.microsoft.com/office/drawing/2014/main" val="2118080151"/>
                  </a:ext>
                </a:extLst>
              </a:tr>
              <a:tr h="830030">
                <a:tc>
                  <a:txBody>
                    <a:bodyPr/>
                    <a:lstStyle/>
                    <a:p>
                      <a:pPr>
                        <a:buNone/>
                      </a:pPr>
                      <a:r>
                        <a:rPr lang="en-IN"/>
                        <a:t>2</a:t>
                      </a:r>
                    </a:p>
                  </a:txBody>
                  <a:tcPr anchor="ctr"/>
                </a:tc>
                <a:tc>
                  <a:txBody>
                    <a:bodyPr/>
                    <a:lstStyle/>
                    <a:p>
                      <a:pPr>
                        <a:buNone/>
                      </a:pPr>
                      <a:r>
                        <a:rPr lang="en-US"/>
                        <a:t>Apply “Mean” filling strategy on numeric columns</a:t>
                      </a:r>
                    </a:p>
                  </a:txBody>
                  <a:tcPr anchor="ctr"/>
                </a:tc>
                <a:tc>
                  <a:txBody>
                    <a:bodyPr/>
                    <a:lstStyle/>
                    <a:p>
                      <a:pPr>
                        <a:buNone/>
                      </a:pPr>
                      <a:r>
                        <a:rPr lang="en-IN"/>
                        <a:t>Mean values applied correctly</a:t>
                      </a:r>
                    </a:p>
                  </a:txBody>
                  <a:tcPr anchor="ctr"/>
                </a:tc>
                <a:tc>
                  <a:txBody>
                    <a:bodyPr/>
                    <a:lstStyle/>
                    <a:p>
                      <a:pPr>
                        <a:buNone/>
                      </a:pPr>
                      <a:r>
                        <a:rPr lang="en-IN"/>
                        <a:t>Dataset transformed without errors</a:t>
                      </a:r>
                    </a:p>
                  </a:txBody>
                  <a:tcPr anchor="ctr"/>
                </a:tc>
                <a:tc>
                  <a:txBody>
                    <a:bodyPr/>
                    <a:lstStyle/>
                    <a:p>
                      <a:pPr>
                        <a:buNone/>
                      </a:pPr>
                      <a:r>
                        <a:rPr lang="en-IN"/>
                        <a:t>PASS</a:t>
                      </a:r>
                    </a:p>
                  </a:txBody>
                  <a:tcPr anchor="ctr"/>
                </a:tc>
                <a:extLst>
                  <a:ext uri="{0D108BD9-81ED-4DB2-BD59-A6C34878D82A}">
                    <a16:rowId xmlns:a16="http://schemas.microsoft.com/office/drawing/2014/main" val="1054088103"/>
                  </a:ext>
                </a:extLst>
              </a:tr>
              <a:tr h="830030">
                <a:tc>
                  <a:txBody>
                    <a:bodyPr/>
                    <a:lstStyle/>
                    <a:p>
                      <a:pPr>
                        <a:buNone/>
                      </a:pPr>
                      <a:r>
                        <a:rPr lang="en-IN"/>
                        <a:t>3</a:t>
                      </a:r>
                    </a:p>
                  </a:txBody>
                  <a:tcPr anchor="ctr"/>
                </a:tc>
                <a:tc>
                  <a:txBody>
                    <a:bodyPr/>
                    <a:lstStyle/>
                    <a:p>
                      <a:pPr>
                        <a:buNone/>
                      </a:pPr>
                      <a:r>
                        <a:rPr lang="en-US"/>
                        <a:t>Remove duplicated rows from dataset</a:t>
                      </a:r>
                    </a:p>
                  </a:txBody>
                  <a:tcPr anchor="ctr"/>
                </a:tc>
                <a:tc>
                  <a:txBody>
                    <a:bodyPr/>
                    <a:lstStyle/>
                    <a:p>
                      <a:pPr>
                        <a:buNone/>
                      </a:pPr>
                      <a:r>
                        <a:rPr lang="en-IN"/>
                        <a:t>Duplicate rows removed successfully</a:t>
                      </a:r>
                    </a:p>
                  </a:txBody>
                  <a:tcPr anchor="ctr"/>
                </a:tc>
                <a:tc>
                  <a:txBody>
                    <a:bodyPr/>
                    <a:lstStyle/>
                    <a:p>
                      <a:pPr>
                        <a:buNone/>
                      </a:pPr>
                      <a:r>
                        <a:rPr lang="en-US"/>
                        <a:t>Duplicate count reduces to zero</a:t>
                      </a:r>
                    </a:p>
                  </a:txBody>
                  <a:tcPr anchor="ctr"/>
                </a:tc>
                <a:tc>
                  <a:txBody>
                    <a:bodyPr/>
                    <a:lstStyle/>
                    <a:p>
                      <a:pPr>
                        <a:buNone/>
                      </a:pPr>
                      <a:r>
                        <a:rPr lang="en-IN"/>
                        <a:t>PASS</a:t>
                      </a:r>
                    </a:p>
                  </a:txBody>
                  <a:tcPr anchor="ctr"/>
                </a:tc>
                <a:extLst>
                  <a:ext uri="{0D108BD9-81ED-4DB2-BD59-A6C34878D82A}">
                    <a16:rowId xmlns:a16="http://schemas.microsoft.com/office/drawing/2014/main" val="2551979879"/>
                  </a:ext>
                </a:extLst>
              </a:tr>
              <a:tr h="1079039">
                <a:tc>
                  <a:txBody>
                    <a:bodyPr/>
                    <a:lstStyle/>
                    <a:p>
                      <a:pPr>
                        <a:buNone/>
                      </a:pPr>
                      <a:r>
                        <a:rPr lang="en-IN" dirty="0"/>
                        <a:t>4</a:t>
                      </a:r>
                    </a:p>
                  </a:txBody>
                  <a:tcPr anchor="ctr"/>
                </a:tc>
                <a:tc>
                  <a:txBody>
                    <a:bodyPr/>
                    <a:lstStyle/>
                    <a:p>
                      <a:pPr>
                        <a:buNone/>
                      </a:pPr>
                      <a:r>
                        <a:rPr lang="en-US"/>
                        <a:t>Generate profiling report on cleaned dataset</a:t>
                      </a:r>
                    </a:p>
                  </a:txBody>
                  <a:tcPr anchor="ctr"/>
                </a:tc>
                <a:tc>
                  <a:txBody>
                    <a:bodyPr/>
                    <a:lstStyle/>
                    <a:p>
                      <a:pPr>
                        <a:buNone/>
                      </a:pPr>
                      <a:r>
                        <a:rPr lang="en-US"/>
                        <a:t>Valid profiling report generated (stats, graphs, correlations)</a:t>
                      </a:r>
                    </a:p>
                  </a:txBody>
                  <a:tcPr anchor="ctr"/>
                </a:tc>
                <a:tc>
                  <a:txBody>
                    <a:bodyPr/>
                    <a:lstStyle/>
                    <a:p>
                      <a:pPr>
                        <a:buNone/>
                      </a:pPr>
                      <a:r>
                        <a:rPr lang="en-US"/>
                        <a:t>No crash, proper insights displayed</a:t>
                      </a:r>
                    </a:p>
                  </a:txBody>
                  <a:tcPr anchor="ctr"/>
                </a:tc>
                <a:tc>
                  <a:txBody>
                    <a:bodyPr/>
                    <a:lstStyle/>
                    <a:p>
                      <a:pPr>
                        <a:buNone/>
                      </a:pPr>
                      <a:r>
                        <a:rPr lang="en-IN"/>
                        <a:t>PASS</a:t>
                      </a:r>
                    </a:p>
                  </a:txBody>
                  <a:tcPr anchor="ctr"/>
                </a:tc>
                <a:extLst>
                  <a:ext uri="{0D108BD9-81ED-4DB2-BD59-A6C34878D82A}">
                    <a16:rowId xmlns:a16="http://schemas.microsoft.com/office/drawing/2014/main" val="344154111"/>
                  </a:ext>
                </a:extLst>
              </a:tr>
              <a:tr h="614139">
                <a:tc>
                  <a:txBody>
                    <a:bodyPr/>
                    <a:lstStyle/>
                    <a:p>
                      <a:pPr>
                        <a:buNone/>
                      </a:pPr>
                      <a:r>
                        <a:rPr lang="en-IN"/>
                        <a:t>5</a:t>
                      </a:r>
                    </a:p>
                  </a:txBody>
                  <a:tcPr anchor="ctr"/>
                </a:tc>
                <a:tc>
                  <a:txBody>
                    <a:bodyPr/>
                    <a:lstStyle/>
                    <a:p>
                      <a:pPr>
                        <a:buNone/>
                      </a:pPr>
                      <a:r>
                        <a:rPr lang="en-US"/>
                        <a:t>Download cleaned dataset as CSV</a:t>
                      </a:r>
                    </a:p>
                  </a:txBody>
                  <a:tcPr anchor="ctr"/>
                </a:tc>
                <a:tc>
                  <a:txBody>
                    <a:bodyPr/>
                    <a:lstStyle/>
                    <a:p>
                      <a:pPr>
                        <a:buNone/>
                      </a:pPr>
                      <a:r>
                        <a:rPr lang="en-IN"/>
                        <a:t>CSV generated &amp; downloaded</a:t>
                      </a:r>
                    </a:p>
                  </a:txBody>
                  <a:tcPr anchor="ctr"/>
                </a:tc>
                <a:tc>
                  <a:txBody>
                    <a:bodyPr/>
                    <a:lstStyle/>
                    <a:p>
                      <a:pPr>
                        <a:buNone/>
                      </a:pPr>
                      <a:r>
                        <a:rPr lang="en-IN"/>
                        <a:t>File preserves cleaned structure</a:t>
                      </a:r>
                    </a:p>
                  </a:txBody>
                  <a:tcPr anchor="ctr"/>
                </a:tc>
                <a:tc>
                  <a:txBody>
                    <a:bodyPr/>
                    <a:lstStyle/>
                    <a:p>
                      <a:pPr>
                        <a:buNone/>
                      </a:pPr>
                      <a:r>
                        <a:rPr lang="en-IN" dirty="0"/>
                        <a:t>PASS</a:t>
                      </a:r>
                    </a:p>
                  </a:txBody>
                  <a:tcPr anchor="ctr"/>
                </a:tc>
                <a:extLst>
                  <a:ext uri="{0D108BD9-81ED-4DB2-BD59-A6C34878D82A}">
                    <a16:rowId xmlns:a16="http://schemas.microsoft.com/office/drawing/2014/main" val="1825233606"/>
                  </a:ext>
                </a:extLst>
              </a:tr>
            </a:tbl>
          </a:graphicData>
        </a:graphic>
      </p:graphicFrame>
      <p:sp>
        <p:nvSpPr>
          <p:cNvPr id="3" name="Slide Number Placeholder 5">
            <a:extLst>
              <a:ext uri="{FF2B5EF4-FFF2-40B4-BE49-F238E27FC236}">
                <a16:creationId xmlns:a16="http://schemas.microsoft.com/office/drawing/2014/main" id="{FF38EC4C-30F8-29B4-E960-222E5671E3E5}"/>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97990E2-83FC-4479-A9D7-4872A6E46ADD}" type="slidenum">
              <a:rPr lang="en-US" altLang="en-US" smtClean="0"/>
              <a:pPr>
                <a:defRPr/>
              </a:pPr>
              <a:t>14</a:t>
            </a:fld>
            <a:endParaRPr lang="en-US" altLang="en-US"/>
          </a:p>
        </p:txBody>
      </p:sp>
    </p:spTree>
    <p:extLst>
      <p:ext uri="{BB962C8B-B14F-4D97-AF65-F5344CB8AC3E}">
        <p14:creationId xmlns:p14="http://schemas.microsoft.com/office/powerpoint/2010/main" val="97119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046511"/>
          </a:xfrm>
        </p:spPr>
        <p:txBody>
          <a:bodyPr>
            <a:normAutofit/>
          </a:bodyPr>
          <a:lstStyle/>
          <a:p>
            <a:pPr algn="ctr"/>
            <a:r>
              <a:rPr lang="en-US" sz="4000"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651143" y="1075732"/>
            <a:ext cx="11033926" cy="5280617"/>
          </a:xfrm>
        </p:spPr>
        <p:txBody>
          <a:bodyPr>
            <a:noAutofit/>
          </a:bodyPr>
          <a:lstStyle/>
          <a:p>
            <a:pPr marL="457200" indent="-457200">
              <a:buFont typeface="+mj-lt"/>
              <a:buAutoNum type="arabicPeriod"/>
            </a:pPr>
            <a:r>
              <a:rPr lang="en-IN" sz="2000" dirty="0"/>
              <a:t>Juan Fernando </a:t>
            </a:r>
            <a:r>
              <a:rPr lang="en-IN" sz="2000" dirty="0" err="1"/>
              <a:t>Cañola</a:t>
            </a:r>
            <a:r>
              <a:rPr lang="en-IN" sz="2000" dirty="0"/>
              <a:t> Garcia, et al., “A Deep Learning-Based Intrusion Detection and </a:t>
            </a:r>
            <a:r>
              <a:rPr lang="en-IN" sz="2000" dirty="0" err="1"/>
              <a:t>Preventation</a:t>
            </a:r>
            <a:r>
              <a:rPr lang="en-IN" sz="2000" dirty="0"/>
              <a:t> System for Detecting and Preventing Denial-of-Service Attacks,” 2019.</a:t>
            </a:r>
          </a:p>
          <a:p>
            <a:pPr marL="457200" indent="-457200">
              <a:buFont typeface="+mj-lt"/>
              <a:buAutoNum type="arabicPeriod"/>
            </a:pPr>
            <a:r>
              <a:rPr lang="en-IN" sz="2000" dirty="0"/>
              <a:t>Anil Kumar, et al., “RETRACTED: An intrusion prevention and detection approach from the computing perspective,” 2020.</a:t>
            </a:r>
          </a:p>
          <a:p>
            <a:pPr marL="457200" indent="-457200">
              <a:buFont typeface="+mj-lt"/>
              <a:buAutoNum type="arabicPeriod"/>
            </a:pPr>
            <a:r>
              <a:rPr lang="en-IN" sz="2000" dirty="0"/>
              <a:t>Muhmmad Adil S. Aref, et al., “MapReduce based intelligent model for Intrusion Detection using machine learning techniques,” Springer Journal, 2021.</a:t>
            </a:r>
          </a:p>
          <a:p>
            <a:pPr marL="457200" indent="-457200">
              <a:buFont typeface="+mj-lt"/>
              <a:buAutoNum type="arabicPeriod"/>
            </a:pPr>
            <a:r>
              <a:rPr lang="en-IN" sz="2000" dirty="0"/>
              <a:t>P. L. S. Jayalaxmi, et al., “Machine and Deep Learning Solutions for Intrusion Detection and Prevention in IoTs: A Survey,” IEEE Access, 2023.</a:t>
            </a:r>
          </a:p>
          <a:p>
            <a:pPr marL="457200" indent="-457200">
              <a:buFont typeface="+mj-lt"/>
              <a:buAutoNum type="arabicPeriod"/>
            </a:pPr>
            <a:r>
              <a:rPr lang="en-IN" sz="2000" dirty="0"/>
              <a:t>Yasmeen Fatima, et al., “Network Intrusion Detection Using Machine Learning Techniques,” 2023.</a:t>
            </a:r>
          </a:p>
          <a:p>
            <a:pPr marL="457200" indent="-457200">
              <a:buFont typeface="+mj-lt"/>
              <a:buAutoNum type="arabicPeriod"/>
            </a:pPr>
            <a:r>
              <a:rPr lang="en-IN" sz="2000" dirty="0"/>
              <a:t>M. </a:t>
            </a:r>
            <a:r>
              <a:rPr lang="en-IN" sz="2000" dirty="0" err="1"/>
              <a:t>Tavallaee</a:t>
            </a:r>
            <a:r>
              <a:rPr lang="en-IN" sz="2000" dirty="0"/>
              <a:t>, E. Bagheri, W. Lu, and A. A. Ghorbani, “A detailed analysis of the KDD CUP 99 data set,” IEEE Symposium on Computational Intelligence for Security and </a:t>
            </a:r>
            <a:r>
              <a:rPr lang="en-IN" sz="2000" dirty="0" err="1"/>
              <a:t>Defense</a:t>
            </a:r>
            <a:r>
              <a:rPr lang="en-IN" sz="2000" dirty="0"/>
              <a:t> Applications, Jul. 2009, </a:t>
            </a:r>
            <a:r>
              <a:rPr lang="en-IN" sz="2000" dirty="0" err="1"/>
              <a:t>doi</a:t>
            </a:r>
            <a:r>
              <a:rPr lang="en-IN" sz="2000" dirty="0"/>
              <a:t>: 10.1109/CISDA.2009.5356528.</a:t>
            </a:r>
          </a:p>
          <a:p>
            <a:pPr marL="457200" indent="-457200">
              <a:buFont typeface="+mj-lt"/>
              <a:buAutoNum type="arabicPeriod"/>
            </a:pPr>
            <a:r>
              <a:rPr lang="en-IN" sz="2000" dirty="0"/>
              <a:t>W. Hu, W. Hu, and S. Maybank, “</a:t>
            </a:r>
            <a:r>
              <a:rPr lang="en-IN" sz="2000" dirty="0" err="1"/>
              <a:t>Adaboost</a:t>
            </a:r>
            <a:r>
              <a:rPr lang="en-IN" sz="2000" dirty="0"/>
              <a:t>-based algorithm for network intrusion detection,” IEEE Transactions on Systems, Man, and Cybernetics Part B (Cybernetics), vol. 38, no. 2, pp. 577–583, Apr. 2008, </a:t>
            </a:r>
            <a:r>
              <a:rPr lang="en-IN" sz="2000" dirty="0" err="1"/>
              <a:t>doi</a:t>
            </a:r>
            <a:r>
              <a:rPr lang="en-IN" sz="2000" dirty="0"/>
              <a:t>: 10.1109/TSMCB.2007.912355.</a:t>
            </a:r>
          </a:p>
          <a:p>
            <a:pPr marL="342900" indent="-342900" algn="just">
              <a:lnSpc>
                <a:spcPct val="150000"/>
              </a:lnSpc>
              <a:buFont typeface="+mj-lt"/>
              <a:buAutoNum type="arabicPeriod"/>
            </a:pPr>
            <a:endParaRPr lang="en-US" sz="2000" dirty="0">
              <a:effectLst/>
              <a:latin typeface="Times New Roman" panose="02020603050405020304" pitchFamily="18" charset="0"/>
              <a:ea typeface="Symbol" panose="05050102010706020507" pitchFamily="18" charset="2"/>
              <a:cs typeface="Symbol" panose="05050102010706020507" pitchFamily="18" charset="2"/>
            </a:endParaRPr>
          </a:p>
        </p:txBody>
      </p:sp>
      <p:sp>
        <p:nvSpPr>
          <p:cNvPr id="4" name="Date Placeholder 3"/>
          <p:cNvSpPr>
            <a:spLocks noGrp="1"/>
          </p:cNvSpPr>
          <p:nvPr>
            <p:ph type="dt" sz="half" idx="10"/>
          </p:nvPr>
        </p:nvSpPr>
        <p:spPr/>
        <p:txBody>
          <a:bodyPr/>
          <a:lstStyle/>
          <a:p>
            <a:fld id="{867F260A-DD09-44F7-B980-373C528FDC8A}" type="datetime1">
              <a:rPr lang="en-US" smtClean="0"/>
              <a:t>11/3/2025</a:t>
            </a:fld>
            <a:endParaRPr lang="en-US"/>
          </a:p>
        </p:txBody>
      </p:sp>
      <p:sp>
        <p:nvSpPr>
          <p:cNvPr id="8" name="Slide Number Placeholder 5">
            <a:extLst>
              <a:ext uri="{FF2B5EF4-FFF2-40B4-BE49-F238E27FC236}">
                <a16:creationId xmlns:a16="http://schemas.microsoft.com/office/drawing/2014/main" id="{90DC965C-C8F7-5DDA-FBD4-FBBE1CFCD824}"/>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97990E2-83FC-4479-A9D7-4872A6E46ADD}" type="slidenum">
              <a:rPr lang="en-US" altLang="en-US" smtClean="0"/>
              <a:pPr>
                <a:defRPr/>
              </a:pPr>
              <a:t>15</a:t>
            </a:fld>
            <a:endParaRPr lang="en-US" altLang="en-US"/>
          </a:p>
        </p:txBody>
      </p:sp>
    </p:spTree>
    <p:extLst>
      <p:ext uri="{BB962C8B-B14F-4D97-AF65-F5344CB8AC3E}">
        <p14:creationId xmlns:p14="http://schemas.microsoft.com/office/powerpoint/2010/main" val="1940364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819" y="2791326"/>
            <a:ext cx="10515600" cy="1046511"/>
          </a:xfrm>
        </p:spPr>
        <p:txBody>
          <a:bodyPr>
            <a:noAutofit/>
          </a:bodyPr>
          <a:lstStyle/>
          <a:p>
            <a:pPr algn="ctr"/>
            <a:r>
              <a:rPr lang="en-US" sz="7000" dirty="0">
                <a:latin typeface="Times New Roman" panose="02020603050405020304" pitchFamily="18" charset="0"/>
                <a:cs typeface="Times New Roman" panose="02020603050405020304" pitchFamily="18" charset="0"/>
              </a:rPr>
              <a:t>THANK YOU</a:t>
            </a:r>
          </a:p>
        </p:txBody>
      </p:sp>
      <p:sp>
        <p:nvSpPr>
          <p:cNvPr id="4" name="Date Placeholder 3"/>
          <p:cNvSpPr>
            <a:spLocks noGrp="1"/>
          </p:cNvSpPr>
          <p:nvPr>
            <p:ph type="dt" sz="half" idx="10"/>
          </p:nvPr>
        </p:nvSpPr>
        <p:spPr/>
        <p:txBody>
          <a:bodyPr/>
          <a:lstStyle/>
          <a:p>
            <a:fld id="{867F260A-DD09-44F7-B980-373C528FDC8A}" type="datetime1">
              <a:rPr lang="en-US" smtClean="0"/>
              <a:t>11/3/2025</a:t>
            </a:fld>
            <a:endParaRPr lang="en-US"/>
          </a:p>
        </p:txBody>
      </p:sp>
      <p:sp>
        <p:nvSpPr>
          <p:cNvPr id="3" name="Slide Number Placeholder 5">
            <a:extLst>
              <a:ext uri="{FF2B5EF4-FFF2-40B4-BE49-F238E27FC236}">
                <a16:creationId xmlns:a16="http://schemas.microsoft.com/office/drawing/2014/main" id="{98DA03D1-3719-BA11-4380-DCB1171AE8EC}"/>
              </a:ext>
            </a:extLst>
          </p:cNvPr>
          <p:cNvSpPr txBox="1">
            <a:spLocks/>
          </p:cNvSpPr>
          <p:nvPr/>
        </p:nvSpPr>
        <p:spPr>
          <a:xfrm>
            <a:off x="8610600"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097990E2-83FC-4479-A9D7-4872A6E46ADD}" type="slidenum">
              <a:rPr lang="en-US" altLang="en-US" smtClean="0"/>
              <a:pPr>
                <a:defRPr/>
              </a:pPr>
              <a:t>16</a:t>
            </a:fld>
            <a:endParaRPr lang="en-US" altLang="en-US"/>
          </a:p>
        </p:txBody>
      </p:sp>
    </p:spTree>
    <p:extLst>
      <p:ext uri="{BB962C8B-B14F-4D97-AF65-F5344CB8AC3E}">
        <p14:creationId xmlns:p14="http://schemas.microsoft.com/office/powerpoint/2010/main" val="281536443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244</TotalTime>
  <Words>1354</Words>
  <Application>Microsoft Office PowerPoint</Application>
  <PresentationFormat>Widescreen</PresentationFormat>
  <Paragraphs>168</Paragraphs>
  <Slides>16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SimSun</vt:lpstr>
      <vt:lpstr>Arial</vt:lpstr>
      <vt:lpstr>Calibri</vt:lpstr>
      <vt:lpstr>Calibri Light</vt:lpstr>
      <vt:lpstr>Times New Roman</vt:lpstr>
      <vt:lpstr>Office Theme</vt:lpstr>
      <vt:lpstr>PowerPoint Presentation</vt:lpstr>
      <vt:lpstr>TABLE OF CONTENTS</vt:lpstr>
      <vt:lpstr>PROBLEM DEFINITION</vt:lpstr>
      <vt:lpstr>ABSTRACT</vt:lpstr>
      <vt:lpstr>EXISTING WORK</vt:lpstr>
      <vt:lpstr>LITERATURE SURVEY</vt:lpstr>
      <vt:lpstr>LITERATURE SURVEY</vt:lpstr>
      <vt:lpstr>LITERATURE SURVEY</vt:lpstr>
      <vt:lpstr>PROPOSED METHODOLOGY</vt:lpstr>
      <vt:lpstr>MODULES</vt:lpstr>
      <vt:lpstr>MODULES</vt:lpstr>
      <vt:lpstr>CODING</vt:lpstr>
      <vt:lpstr>CODING</vt:lpstr>
      <vt:lpstr>TESTING</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PRESENTED BY  SURENDRA.M           (Roll. No. 21701A0501) SIVA.A                              (Roll. No. 22705A0501 ) SURESH.M        (Roll. No. XXXXXXX)</dc:title>
  <dc:creator>APSSDC</dc:creator>
  <cp:lastModifiedBy>Dinesh Reddy</cp:lastModifiedBy>
  <cp:revision>76</cp:revision>
  <dcterms:created xsi:type="dcterms:W3CDTF">2024-09-26T06:12:57Z</dcterms:created>
  <dcterms:modified xsi:type="dcterms:W3CDTF">2025-11-03T17:16:54Z</dcterms:modified>
</cp:coreProperties>
</file>